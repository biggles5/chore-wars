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</p:sldIdLst>
  <p:notesMasterIdLst>
    <p:notesMasterId r:id="rId6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notesMaster" Target="notesMasters/notesMaster1.xml"/><Relationship Id="rId66" Type="http://schemas.openxmlformats.org/officeDocument/2006/relationships/presProps" Target="presProps.xml"/><Relationship Id="rId67" Type="http://schemas.openxmlformats.org/officeDocument/2006/relationships/viewProps" Target="viewProps.xml"/><Relationship Id="rId68" Type="http://schemas.openxmlformats.org/officeDocument/2006/relationships/theme" Target="theme/theme1.xml"/><Relationship Id="rId6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FB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MABRY.AI SIGNAL INTELLIGENCE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1051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4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TMA Performance</a:t>
            </a:r>
            <a:endParaRPr lang="en-US" sz="48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Battlecards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22960" y="34290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FULL-DEPTH EDITION — every battlecard section, eight competitors, the four-layer human potential stack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425196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1D2A45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425196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 Amp · Perceptyx · Qualtrics + Press Ganey · Predictive Index · SHL · Syndio · Korn Ferry · Phenom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52578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date 2026-08-07  ·  quarterly refresh due 2026-11-07  ·  7 slides per competitor + summary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5760720"/>
            <a:ext cx="1417320" cy="384048"/>
          </a:xfrm>
          <a:prstGeom prst="roundRect">
            <a:avLst>
              <a:gd name="adj" fmla="val 14286"/>
            </a:avLst>
          </a:prstGeom>
          <a:solidFill>
            <a:srgbClr val="E85D5D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576072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D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Mabry.Ai Signal Intelligence · run 2026-08-07 · cached/indexed sources — verify verbatim quotes before client use · INTERNAL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9D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run was built — and how to read it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3611880" cy="4892040"/>
          </a:xfrm>
          <a:prstGeom prst="roundRect">
            <a:avLst>
              <a:gd name="adj" fmla="val 2532"/>
            </a:avLst>
          </a:prstGeom>
          <a:solidFill>
            <a:srgbClr val="F2F5FB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4630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1965960"/>
            <a:ext cx="320040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 landscape sweep → approved 8-vendor roster</a:t>
            </a:r>
            <a:endParaRPr lang="en-US" sz="115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Per-competitor multi-stream research (product/docs, GTM/pricing, reviews/org, vs-stack)</a:t>
            </a:r>
            <a:endParaRPr lang="en-US" sz="115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12-section battlecard per vendor + executive summary — this deck mirrors every section</a:t>
            </a:r>
            <a:endParaRPr lang="en-US" sz="115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information only — no logins, no trials, no fabrication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343400" y="1234440"/>
            <a:ext cx="3611880" cy="4892040"/>
          </a:xfrm>
          <a:prstGeom prst="roundRect">
            <a:avLst>
              <a:gd name="adj" fmla="val 2532"/>
            </a:avLst>
          </a:prstGeom>
          <a:solidFill>
            <a:srgbClr val="F2F5F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0" y="14630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&amp; confidence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0" y="1965960"/>
            <a:ext cx="320040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sites widely proxy-blocked — claims sourced from search-indexed / cached content, tagged [cached]</a:t>
            </a:r>
            <a:endParaRPr lang="en-US" sz="115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carries confidence: documented · strong inference · weak inference</a:t>
            </a:r>
            <a:endParaRPr lang="en-US" sz="115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Employee-review material is anonymous and directional — never presented as customer complaints</a:t>
            </a:r>
            <a:endParaRPr lang="en-US" sz="115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card ends with a verify-live list — pull those before any client-facing use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138160" y="1234440"/>
            <a:ext cx="3611880" cy="4892040"/>
          </a:xfrm>
          <a:prstGeom prst="roundRect">
            <a:avLst>
              <a:gd name="adj" fmla="val 2532"/>
            </a:avLst>
          </a:prstGeom>
          <a:solidFill>
            <a:srgbClr val="F2F5FB"/>
          </a:solidFill>
          <a:ln/>
        </p:spPr>
      </p:sp>
      <p:sp>
        <p:nvSpPr>
          <p:cNvPr id="10" name="Text 8"/>
          <p:cNvSpPr/>
          <p:nvPr/>
        </p:nvSpPr>
        <p:spPr>
          <a:xfrm>
            <a:off x="8366760" y="14630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of engagement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366760" y="1965960"/>
            <a:ext cx="320040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One-layer lead — never open with all four layers</a:t>
            </a:r>
            <a:endParaRPr lang="en-US" sz="115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Run-alongside before displacement; respect real moats (Magnet, privileged audits, validity libraries)</a:t>
            </a:r>
            <a:endParaRPr lang="en-US" sz="115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anchors only in client copy (TOPdesk 3→18 · Atos EUR 200–300K · 50M+ datapoints · NeurOlympics)</a:t>
            </a:r>
            <a:endParaRPr lang="en-US" sz="115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Ex-employee signals: public statements only — never contact, never use anything resembling confidential disclosure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65105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Mabry.Ai Signal Intelligence · run 2026-08-07 · cached/indexed sources — verify verbatim quotes before client use · INTERNAL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Layer-collision landscape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87782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fields all four layers as product. ● collision · ○ grazing · — absent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143000"/>
                <a:gridCol w="960120"/>
                <a:gridCol w="1051560"/>
                <a:gridCol w="914400"/>
                <a:gridCol w="868680"/>
                <a:gridCol w="3867912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Experience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motion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4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Korn Ferry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85D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85D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85D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Operationalize after the engagement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4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Phenom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9C2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9C2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85D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85D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inside their shell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4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Qualtrics + Press Ganey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85D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9C2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9C2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9C2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85D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alongside → displace in 2027 window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4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Culture Amp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85D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9C2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9C2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9C2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4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Displace at renewal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4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Perceptyx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85D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9C2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9C2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9C2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4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Flank the moat; own sub-5K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4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Predictive Index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9C2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85D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4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Sell the outgrowing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4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9C2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9C2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85D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85D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4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Pilot head-to-head on funnel yield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4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Syndio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9C2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85D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9C2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9C2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4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alongside — build beneath the audit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9436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B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owners: Experience = DecisionWise · Role = STYR · Person = TMA · Fit = BrainsFirst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65105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Mabry.Ai Signal Intelligence · run 2026-08-07 · cached/indexed sources — verify verbatim quotes before client use · INTERNAL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77640" cy="6858000"/>
          </a:xfrm>
          <a:prstGeom prst="rect">
            <a:avLst/>
          </a:prstGeom>
          <a:solidFill>
            <a:srgbClr val="141B2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457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B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BATTLECARD · THREAT #4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11480" y="7772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 Amp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1691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cultureamp.com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20574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B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— DecisionWise leads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11480" y="26060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9D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 Enter via 360s / consulting; displace at renewal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1480" y="3337560"/>
            <a:ext cx="3246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6,500+ companies · G2 ~1,540 @ 4.5</a:t>
            </a:r>
            <a:endParaRPr lang="en-US" sz="100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FY25 rev ~US$177M; growth 32% → 10.8%</a:t>
            </a:r>
            <a:endParaRPr lang="en-US" sz="100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layoff rounds in 3 yrs (~220 roles)</a:t>
            </a:r>
            <a:endParaRPr lang="en-US" sz="100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swap Jan 2026 (turnaround CFO); CRO out May</a:t>
            </a:r>
            <a:endParaRPr lang="en-US" sz="100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 written down 23.5% by own investor</a:t>
            </a:r>
            <a:endParaRPr lang="en-US" sz="100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Pricing: ~$4.5K min; $16.6K SMB / $75.5K ent avg; 3–7% escalators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343400" y="41148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two-minute read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343400" y="960120"/>
            <a:ext cx="75438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Mid-market engagement standard — and a wounded leader mid-turnaround</a:t>
            </a:r>
            <a:endParaRPr lang="en-US" sz="115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one layer and stops: no Role, Person, or Fit product exists</a:t>
            </a:r>
            <a:endParaRPr lang="en-US" sz="115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prepared counter-messaging against a four-layer consortium pitch</a:t>
            </a:r>
            <a:endParaRPr lang="en-US" sz="115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complaint themes clear the 3+ source bar: chatbot support, reporting rigidity, admin burden, pricing opacity</a:t>
            </a:r>
            <a:endParaRPr lang="en-US" sz="115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End-user UX is genuinely loved — the gap is everything after the survey closes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43400" y="4160520"/>
            <a:ext cx="3703320" cy="2148840"/>
          </a:xfrm>
          <a:prstGeom prst="roundRect">
            <a:avLst>
              <a:gd name="adj" fmla="val 3830"/>
            </a:avLst>
          </a:prstGeom>
          <a:solidFill>
            <a:srgbClr val="FBEAE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43159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THEY WIN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0" y="4645152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5A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bake-offs scored on UX + benchmark breadth</a:t>
            </a:r>
            <a:endParaRPr lang="en-US" sz="98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5A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/ retail / prof-services mid-market reference gravity</a:t>
            </a:r>
            <a:endParaRPr lang="en-US" sz="98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5A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teams invested in Culture First community + benchmark continuity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8211312" y="4160520"/>
            <a:ext cx="3703320" cy="2148840"/>
          </a:xfrm>
          <a:prstGeom prst="roundRect">
            <a:avLst>
              <a:gd name="adj" fmla="val 3830"/>
            </a:avLst>
          </a:prstGeom>
          <a:solidFill>
            <a:srgbClr val="E4F5F1"/>
          </a:solidFill>
          <a:ln/>
        </p:spPr>
      </p:sp>
      <p:sp>
        <p:nvSpPr>
          <p:cNvPr id="15" name="Text 13"/>
          <p:cNvSpPr/>
          <p:nvPr/>
        </p:nvSpPr>
        <p:spPr>
          <a:xfrm>
            <a:off x="8439912" y="43159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FB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BEAT THEM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439912" y="4645152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through 360s (their weakest module) or the consulting gap</a:t>
            </a:r>
            <a:endParaRPr lang="en-US" sz="98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validity + adverse-impact evidence — none exists</a:t>
            </a:r>
            <a:endParaRPr lang="en-US" sz="98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unions: no CU benchmark, no CU logos — cleanest kill</a:t>
            </a:r>
            <a:endParaRPr lang="en-US" sz="98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Displace at renewal during the instability window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4343400" y="651052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Mabry.Ai Signal Intelligence · run 2026-08-07 · cached/indexed sources — verify verbatim quotes before client use · INTERNAL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 Amp — positioning &amp; narrative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87782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criteria they install, the criteria they avoid, and the lines they hand us.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4892040"/>
          </a:xfrm>
          <a:prstGeom prst="roundRect">
            <a:avLst>
              <a:gd name="adj" fmla="val 1869"/>
            </a:avLst>
          </a:prstGeom>
          <a:solidFill>
            <a:srgbClr val="F2F5FB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00200"/>
            <a:ext cx="1046988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One-liner: “The market-leading employee experience platform.” Wedge = People Science + the industry’s largest benchmark (1B+ survey responses, methodology genuinely published — respect it) + hard AI pivot (AI Coach, free platform-wide, Oct 2025).</a:t>
            </a:r>
            <a:endParaRPr lang="en-US" sz="1150" dirty="0"/>
          </a:p>
          <a:p>
            <a:pPr marL="101600" indent="-1016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stated philosophy is a gift: “We’re model agnostic — we’re not selling our model.” Against a buyer who wants an engagement MODEL and a consultative partner, they disqualified themselves in their own docs.</a:t>
            </a:r>
            <a:endParaRPr lang="en-US" sz="1150" dirty="0"/>
          </a:p>
          <a:p>
            <a:pPr marL="101600" indent="-1016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 they install: people-science credibility, benchmark scale, Culture First community, all-in-one EX suite, free AI, G2 rankings.</a:t>
            </a:r>
            <a:endParaRPr lang="en-US" sz="1150" dirty="0"/>
          </a:p>
          <a:p>
            <a:pPr marL="101600" indent="-1016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 they avoid (the tell): psychometric validity, adverse-impact evidence, role architecture, pay equity, hiring science, consultant-led transformation. Score the deal on the second list.</a:t>
            </a:r>
            <a:endParaRPr lang="en-US" sz="1150" dirty="0"/>
          </a:p>
          <a:p>
            <a:pPr marL="101600" indent="-1016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they attack: Lattice and Qualtrics. Consortium awareness: ZERO — DecisionWise’s “6 Alternatives to Culture Amp” page attacks them unanswered. A human-potential-stack pitch lands where no counter-messaging exists.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Mabry.Ai Signal Intelligence · run 2026-08-07 · cached/indexed sources — verify verbatim quotes before client use · INTERNAL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 Amp — feature matrix vs. the stack</a:t>
            </a:r>
            <a:endParaRPr lang="en-US" sz="2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11091672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4663440"/>
                <a:gridCol w="409651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Culture Amp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TMA Performance stack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Engagement / lifecycle surveys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— 40+ templates, pulse, lifecycle; SMS/deskless only since 2025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745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DecisionWise — don’t attack head-on early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Massive but engagement-only; healthcare/higher-ed/gov engagement norms exist; NO credit-union benchmark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745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DecisionWise 50M+ datapoints, 30 yrs normative depth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360 / leadership development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Weakest module — “clunky and disjointed”; rigid reviewer admin; open-text-only Pulse 360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745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DecisionWise: 14 competencies + 13 derailers, certified debriefs — the #1 entry wedge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 architecture / pay equity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Nothing (rival-confirmed: “lacks OKR, LMS, and compensation modules”)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745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STYR — uncontested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Assessments / motivation / hiring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Nothing — no psychometrics, no validity evidence, no pre-hire product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745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TMA (Person) + BrainsFirst (Fit) — uncontested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Coach real (senior AI hires, ISO 42001) — but coaches from sentiment data only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745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over four layers of measured human data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Services model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Product-led: People Scientist = Enterprise add-on; premium CSM/QBRs +10–20% ACV; chatbot-first support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745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DecisionWise consultative model — the consultant IS the offering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Workday/BambooHR/UKG native; ADP = SFTP only (heavy in healthcare/CU/mfg)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745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consortium connectors per deal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5105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Mabry.Ai Signal Intelligence · run 2026-08-07 · cached/indexed sources — verify verbatim quotes before client use · INTERNAL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 Amp — exploitable gaps (full ranked list)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87782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first, then the move. Confidence tags in the battlecard.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5486400" cy="1572768"/>
          </a:xfrm>
          <a:prstGeom prst="roundRect">
            <a:avLst>
              <a:gd name="adj" fmla="val 5233"/>
            </a:avLst>
          </a:prstGeom>
          <a:solidFill>
            <a:srgbClr val="F2F5FB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444752"/>
            <a:ext cx="310896" cy="310896"/>
          </a:xfrm>
          <a:prstGeom prst="ellipse">
            <a:avLst/>
          </a:prstGeom>
          <a:solidFill>
            <a:srgbClr val="2FB7A4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444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33856" y="1408176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of four layers don’t exist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68096" y="1828800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line is Engage/Perform/Develop + AI Coach — no role, person, or fit product anywhere; rival-confirmed (Leapsome).</a:t>
            </a:r>
            <a:endParaRPr lang="en-US" sz="860" dirty="0"/>
          </a:p>
        </p:txBody>
      </p:sp>
      <p:sp>
        <p:nvSpPr>
          <p:cNvPr id="9" name="Text 7"/>
          <p:cNvSpPr/>
          <p:nvPr/>
        </p:nvSpPr>
        <p:spPr>
          <a:xfrm>
            <a:off x="768096" y="2414016"/>
            <a:ext cx="5074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i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“Scores tell you people are frustrated — which system tells you if the role, the fit, or the hire is broken?”</a:t>
            </a:r>
            <a:endParaRPr lang="en-US" sz="860" dirty="0"/>
          </a:p>
        </p:txBody>
      </p:sp>
      <p:sp>
        <p:nvSpPr>
          <p:cNvPr id="10" name="Shape 8"/>
          <p:cNvSpPr/>
          <p:nvPr/>
        </p:nvSpPr>
        <p:spPr>
          <a:xfrm>
            <a:off x="6263640" y="1298448"/>
            <a:ext cx="5486400" cy="1572768"/>
          </a:xfrm>
          <a:prstGeom prst="roundRect">
            <a:avLst>
              <a:gd name="adj" fmla="val 5233"/>
            </a:avLst>
          </a:prstGeom>
          <a:solidFill>
            <a:srgbClr val="F2F5FB"/>
          </a:solidFill>
          <a:ln/>
        </p:spPr>
      </p:sp>
      <p:sp>
        <p:nvSpPr>
          <p:cNvPr id="11" name="Shape 9"/>
          <p:cNvSpPr/>
          <p:nvPr/>
        </p:nvSpPr>
        <p:spPr>
          <a:xfrm>
            <a:off x="6428232" y="1444752"/>
            <a:ext cx="310896" cy="310896"/>
          </a:xfrm>
          <a:prstGeom prst="ellipse">
            <a:avLst/>
          </a:prstGeom>
          <a:solidFill>
            <a:srgbClr val="2FB7A4"/>
          </a:solidFill>
          <a:ln/>
        </p:spPr>
      </p:sp>
      <p:sp>
        <p:nvSpPr>
          <p:cNvPr id="12" name="Text 10"/>
          <p:cNvSpPr/>
          <p:nvPr/>
        </p:nvSpPr>
        <p:spPr>
          <a:xfrm>
            <a:off x="6428232" y="1444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48856" y="1408176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 is a module, not an instrument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83096" y="1828800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Reviews: “clunky and disjointed”; rigid reviewer admin; no advanced competency evaluation. Their own docs confirm.</a:t>
            </a:r>
            <a:endParaRPr lang="en-US" sz="860" dirty="0"/>
          </a:p>
        </p:txBody>
      </p:sp>
      <p:sp>
        <p:nvSpPr>
          <p:cNvPr id="15" name="Text 13"/>
          <p:cNvSpPr/>
          <p:nvPr/>
        </p:nvSpPr>
        <p:spPr>
          <a:xfrm>
            <a:off x="6483096" y="2414016"/>
            <a:ext cx="5074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i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DecisionWise’s specialist 360 (14 competencies / 13 derailers, certified debriefs) alongside the incumbent survey.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548640" y="2999232"/>
            <a:ext cx="5486400" cy="1572768"/>
          </a:xfrm>
          <a:prstGeom prst="roundRect">
            <a:avLst>
              <a:gd name="adj" fmla="val 5233"/>
            </a:avLst>
          </a:prstGeom>
          <a:solidFill>
            <a:srgbClr val="F2F5FB"/>
          </a:solidFill>
          <a:ln/>
        </p:spPr>
      </p:sp>
      <p:sp>
        <p:nvSpPr>
          <p:cNvPr id="17" name="Shape 15"/>
          <p:cNvSpPr/>
          <p:nvPr/>
        </p:nvSpPr>
        <p:spPr>
          <a:xfrm>
            <a:off x="713232" y="3145536"/>
            <a:ext cx="310896" cy="310896"/>
          </a:xfrm>
          <a:prstGeom prst="ellipse">
            <a:avLst/>
          </a:prstGeom>
          <a:solidFill>
            <a:srgbClr val="2FB7A4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33856" y="310896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validity or adverse-impact evidence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68096" y="3529584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“People Science” covers survey construction only; their own line: “We’re model agnostic — we’re not selling our model.”</a:t>
            </a:r>
            <a:endParaRPr lang="en-US" sz="860" dirty="0"/>
          </a:p>
        </p:txBody>
      </p:sp>
      <p:sp>
        <p:nvSpPr>
          <p:cNvPr id="21" name="Text 19"/>
          <p:cNvSpPr/>
          <p:nvPr/>
        </p:nvSpPr>
        <p:spPr>
          <a:xfrm>
            <a:off x="768096" y="4114800"/>
            <a:ext cx="5074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i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validity documentation in the eval — the consortium tables published psychometrics; they table nothing.</a:t>
            </a:r>
            <a:endParaRPr lang="en-US" sz="860" dirty="0"/>
          </a:p>
        </p:txBody>
      </p:sp>
      <p:sp>
        <p:nvSpPr>
          <p:cNvPr id="22" name="Shape 20"/>
          <p:cNvSpPr/>
          <p:nvPr/>
        </p:nvSpPr>
        <p:spPr>
          <a:xfrm>
            <a:off x="6263640" y="2999232"/>
            <a:ext cx="5486400" cy="1572768"/>
          </a:xfrm>
          <a:prstGeom prst="roundRect">
            <a:avLst>
              <a:gd name="adj" fmla="val 5233"/>
            </a:avLst>
          </a:prstGeom>
          <a:solidFill>
            <a:srgbClr val="F2F5FB"/>
          </a:solidFill>
          <a:ln/>
        </p:spPr>
      </p:sp>
      <p:sp>
        <p:nvSpPr>
          <p:cNvPr id="23" name="Shape 21"/>
          <p:cNvSpPr/>
          <p:nvPr/>
        </p:nvSpPr>
        <p:spPr>
          <a:xfrm>
            <a:off x="6428232" y="3145536"/>
            <a:ext cx="310896" cy="310896"/>
          </a:xfrm>
          <a:prstGeom prst="ellipse">
            <a:avLst/>
          </a:prstGeom>
          <a:solidFill>
            <a:srgbClr val="2FB7A4"/>
          </a:solidFill>
          <a:ln/>
        </p:spPr>
      </p:sp>
      <p:sp>
        <p:nvSpPr>
          <p:cNvPr id="24" name="Text 22"/>
          <p:cNvSpPr/>
          <p:nvPr/>
        </p:nvSpPr>
        <p:spPr>
          <a:xfrm>
            <a:off x="642823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48856" y="310896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proof in TMA verticals + renewal economics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483096" y="3529584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named healthcare/CU/higher-ed/gov/mfg logo found; 3–7% annual escalators and add-on stacking documented.</a:t>
            </a:r>
            <a:endParaRPr lang="en-US" sz="860" dirty="0"/>
          </a:p>
        </p:txBody>
      </p:sp>
      <p:sp>
        <p:nvSpPr>
          <p:cNvPr id="27" name="Text 25"/>
          <p:cNvSpPr/>
          <p:nvPr/>
        </p:nvSpPr>
        <p:spPr>
          <a:xfrm>
            <a:off x="6483096" y="4114800"/>
            <a:ext cx="5074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i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many named references at your size, in your vertical?” Arm procurement with escalator caps.</a:t>
            </a:r>
            <a:endParaRPr lang="en-US" sz="860" dirty="0"/>
          </a:p>
        </p:txBody>
      </p:sp>
      <p:sp>
        <p:nvSpPr>
          <p:cNvPr id="28" name="Shape 26"/>
          <p:cNvSpPr/>
          <p:nvPr/>
        </p:nvSpPr>
        <p:spPr>
          <a:xfrm>
            <a:off x="548640" y="4700016"/>
            <a:ext cx="5486400" cy="1572768"/>
          </a:xfrm>
          <a:prstGeom prst="roundRect">
            <a:avLst>
              <a:gd name="adj" fmla="val 5233"/>
            </a:avLst>
          </a:prstGeom>
          <a:solidFill>
            <a:srgbClr val="F2F5FB"/>
          </a:solidFill>
          <a:ln/>
        </p:spPr>
      </p:sp>
      <p:sp>
        <p:nvSpPr>
          <p:cNvPr id="29" name="Shape 27"/>
          <p:cNvSpPr/>
          <p:nvPr/>
        </p:nvSpPr>
        <p:spPr>
          <a:xfrm>
            <a:off x="713232" y="4846320"/>
            <a:ext cx="310896" cy="310896"/>
          </a:xfrm>
          <a:prstGeom prst="ellipse">
            <a:avLst/>
          </a:prstGeom>
          <a:solidFill>
            <a:srgbClr val="2FB7A4"/>
          </a:solidFill>
          <a:ln/>
        </p:spPr>
      </p:sp>
      <p:sp>
        <p:nvSpPr>
          <p:cNvPr id="30" name="Text 28"/>
          <p:cNvSpPr/>
          <p:nvPr/>
        </p:nvSpPr>
        <p:spPr>
          <a:xfrm>
            <a:off x="713232" y="4846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33856" y="4809744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&amp; service capacity under strain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68096" y="5230368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themes with 3+ sources each (chatbot-gated support, reporting rigidity, admin burden, pricing opacity); Trustpilot 3.1; then three layoff rounds and middle management removed.</a:t>
            </a:r>
            <a:endParaRPr lang="en-US" sz="860" dirty="0"/>
          </a:p>
        </p:txBody>
      </p:sp>
      <p:sp>
        <p:nvSpPr>
          <p:cNvPr id="33" name="Text 31"/>
          <p:cNvSpPr/>
          <p:nvPr/>
        </p:nvSpPr>
        <p:spPr>
          <a:xfrm>
            <a:off x="768096" y="5815584"/>
            <a:ext cx="5074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i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“Who will your CSM be in 12 months, and what’s the escalation path when the chatbot can’t solve it?” Get SLAs in writing.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6263640" y="4700016"/>
            <a:ext cx="5486400" cy="1572768"/>
          </a:xfrm>
          <a:prstGeom prst="roundRect">
            <a:avLst>
              <a:gd name="adj" fmla="val 5233"/>
            </a:avLst>
          </a:prstGeom>
          <a:solidFill>
            <a:srgbClr val="F2F5FB"/>
          </a:solidFill>
          <a:ln/>
        </p:spPr>
      </p:sp>
      <p:sp>
        <p:nvSpPr>
          <p:cNvPr id="35" name="Shape 33"/>
          <p:cNvSpPr/>
          <p:nvPr/>
        </p:nvSpPr>
        <p:spPr>
          <a:xfrm>
            <a:off x="6428232" y="4846320"/>
            <a:ext cx="310896" cy="310896"/>
          </a:xfrm>
          <a:prstGeom prst="ellipse">
            <a:avLst/>
          </a:prstGeom>
          <a:solidFill>
            <a:srgbClr val="2FB7A4"/>
          </a:solidFill>
          <a:ln/>
        </p:spPr>
      </p:sp>
      <p:sp>
        <p:nvSpPr>
          <p:cNvPr id="36" name="Text 34"/>
          <p:cNvSpPr/>
          <p:nvPr/>
        </p:nvSpPr>
        <p:spPr>
          <a:xfrm>
            <a:off x="6428232" y="4846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848856" y="4809744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 economics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483096" y="5230368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3–7% annual escalators standard; add-on stacking (scientist access, premium CSM, QBRs); 15–30% off documented with competitive pressure.</a:t>
            </a:r>
            <a:endParaRPr lang="en-US" sz="860" dirty="0"/>
          </a:p>
        </p:txBody>
      </p:sp>
      <p:sp>
        <p:nvSpPr>
          <p:cNvPr id="39" name="Text 37"/>
          <p:cNvSpPr/>
          <p:nvPr/>
        </p:nvSpPr>
        <p:spPr>
          <a:xfrm>
            <a:off x="6483096" y="5815584"/>
            <a:ext cx="5074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i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procurement with escalator caps and unbundling levers — being useful to procurement builds the champion.</a:t>
            </a:r>
            <a:endParaRPr lang="en-US" sz="860" dirty="0"/>
          </a:p>
        </p:txBody>
      </p:sp>
      <p:sp>
        <p:nvSpPr>
          <p:cNvPr id="40" name="Text 38"/>
          <p:cNvSpPr/>
          <p:nvPr/>
        </p:nvSpPr>
        <p:spPr>
          <a:xfrm>
            <a:off x="457200" y="65105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Mabry.Ai Signal Intelligence · run 2026-08-07 · cached/indexed sources — verify verbatim quotes before client use · INTERNAL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 Amp — pricing, complaints, ex-employee signals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3611880" cy="5029200"/>
          </a:xfrm>
          <a:prstGeom prst="roundRect">
            <a:avLst>
              <a:gd name="adj" fmla="val 2532"/>
            </a:avLst>
          </a:prstGeom>
          <a:solidFill>
            <a:srgbClr val="F2F5FB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1325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signals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49808" y="1755648"/>
            <a:ext cx="32461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Quote-gated PEPY, 3 modules; ~$4,500 minimum; $4.50–8 PEPM engage-led, $9–15 full suite</a:t>
            </a:r>
            <a:endParaRPr lang="en-US" sz="92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Benchmarks: $16.6K SMB / $75.5K enterprise averages; mid-market $30–55K; ~$45K at 1,000 employees</a:t>
            </a:r>
            <a:endParaRPr lang="en-US" sz="92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Friction: 3–7% renewal escalators, add-on stacking, opacity complaints, paying-for-unused-modules theme</a:t>
            </a:r>
            <a:endParaRPr lang="en-US" sz="92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Position: never race to the bottom on survey price — sell layer-scoped entry (new budget, no rip-out), then full-stack TCO at renewal. ROI: senior exit 50–200% of salary vs the price of a survey tool</a:t>
            </a:r>
            <a:endParaRPr lang="en-US" sz="920" dirty="0"/>
          </a:p>
        </p:txBody>
      </p:sp>
      <p:sp>
        <p:nvSpPr>
          <p:cNvPr id="6" name="Shape 4"/>
          <p:cNvSpPr/>
          <p:nvPr/>
        </p:nvSpPr>
        <p:spPr>
          <a:xfrm>
            <a:off x="4343400" y="1143000"/>
            <a:ext cx="3611880" cy="5029200"/>
          </a:xfrm>
          <a:prstGeom prst="roundRect">
            <a:avLst>
              <a:gd name="adj" fmla="val 2532"/>
            </a:avLst>
          </a:prstGeom>
          <a:solidFill>
            <a:srgbClr val="F2F5FB"/>
          </a:solidFill>
          <a:ln/>
        </p:spPr>
      </p:sp>
      <p:sp>
        <p:nvSpPr>
          <p:cNvPr id="7" name="Text 5"/>
          <p:cNvSpPr/>
          <p:nvPr/>
        </p:nvSpPr>
        <p:spPr>
          <a:xfrm>
            <a:off x="4544568" y="1325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complaints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44568" y="1755648"/>
            <a:ext cx="32461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Support: slow, chatbot-gated, unresolving — “no on-demand customer service — just a chat bot” (G2); Trustpilot 3.1. Strongest theme</a:t>
            </a:r>
            <a:endParaRPr lang="en-US" sz="92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rigidity — “download the CSV and build it yourself” for talent grids/calibration</a:t>
            </a:r>
            <a:endParaRPr lang="en-US" sz="92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burden — expert admin required; a submit-timeout bug wiped reviewers’ written 360 feedback (2 platforms independently)</a:t>
            </a:r>
            <a:endParaRPr lang="en-US" sz="92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opacity / module waste — “$$$$$”, “easily paying for more than you need”</a:t>
            </a:r>
            <a:endParaRPr lang="en-US" sz="92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Respect: end-user UX loved, 1-on-1s praised, benchmarks valued — the gap is after the survey closes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8138160" y="1143000"/>
            <a:ext cx="3611880" cy="5029200"/>
          </a:xfrm>
          <a:prstGeom prst="roundRect">
            <a:avLst>
              <a:gd name="adj" fmla="val 2532"/>
            </a:avLst>
          </a:prstGeom>
          <a:solidFill>
            <a:srgbClr val="F2F5FB"/>
          </a:solidFill>
          <a:ln/>
        </p:spPr>
      </p:sp>
      <p:sp>
        <p:nvSpPr>
          <p:cNvPr id="10" name="Text 8"/>
          <p:cNvSpPr/>
          <p:nvPr/>
        </p:nvSpPr>
        <p:spPr>
          <a:xfrm>
            <a:off x="8339328" y="1325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Ex-employee signals (public only)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339328" y="1755648"/>
            <a:ext cx="32461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Glassdoor ~341 / Blind 3.3: “constant layoffs spread through the year”; “no trust in leadership”; sales org “in shambles”; “the instability is insane” (anonymous, directional)</a:t>
            </a:r>
            <a:endParaRPr lang="en-US" sz="92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Director of People Science departed after 8 years while US Senior People Scientist roles re-hired — people-science brand defended, institutional depth thinned</a:t>
            </a:r>
            <a:endParaRPr lang="en-US" sz="92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(marked): founder holds “AI product vision” as exec chair while a turnaround CFO runs the P&amp;L — roadmap-vs-cost tension. “Their next 18 months are about their turnaround, not your roadmap.”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457200" y="65105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Mabry.Ai Signal Intelligence · run 2026-08-07 · cached/indexed sources — verify verbatim quotes before client use · INTERNAL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 Amp — run-alongside plan &amp; MEDDPICC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440680" cy="5029200"/>
          </a:xfrm>
          <a:prstGeom prst="roundRect">
            <a:avLst>
              <a:gd name="adj" fmla="val 1818"/>
            </a:avLst>
          </a:prstGeom>
          <a:solidFill>
            <a:srgbClr val="E4F5F1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32588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FB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RUN-ALONGSIDE / ENTRY WEDGES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77240" y="1737360"/>
            <a:ext cx="502920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motion: do NOT attack the engagement survey. Enter via (1) 360/leadership development — their weakest module, DecisionWise’s strongest instrument; (2) consultative action-planning on their existing survey data</a:t>
            </a:r>
            <a:endParaRPr lang="en-US" sz="1000" dirty="0"/>
          </a:p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(3) Credit unions — no benchmark, no logos; lead with vertical norms. (4) Person/Fit via hiring pain — TA is a buying center they don’t call on</a:t>
            </a:r>
            <a:endParaRPr lang="en-US" sz="1000" dirty="0"/>
          </a:p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Displacement is a renewal-window event you EARN by being embedded first — timed to CSM turnover, AI-roadmap repositioning, renewal repricing</a:t>
            </a:r>
            <a:endParaRPr lang="en-US" sz="1000" dirty="0"/>
          </a:p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with benchmark-continuity risk reversal: DecisionWise’s 50M+ datapoint normative base means the buyer never goes benchmark-naked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199632" y="1143000"/>
            <a:ext cx="5440680" cy="5029200"/>
          </a:xfrm>
          <a:prstGeom prst="roundRect">
            <a:avLst>
              <a:gd name="adj" fmla="val 1818"/>
            </a:avLst>
          </a:prstGeom>
          <a:solidFill>
            <a:srgbClr val="F2F5FB"/>
          </a:solidFill>
          <a:ln/>
        </p:spPr>
      </p:sp>
      <p:sp>
        <p:nvSpPr>
          <p:cNvPr id="7" name="Text 5"/>
          <p:cNvSpPr/>
          <p:nvPr/>
        </p:nvSpPr>
        <p:spPr>
          <a:xfrm>
            <a:off x="6428232" y="132588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MEDDPICC ANGLES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28232" y="1737360"/>
            <a:ext cx="502920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91% avg participation (approved anchor, attach internal citation) · validated 360 outcomes · Atos EUR 200–300K redeployment · TOPdesk 3→18 hires</a:t>
            </a:r>
            <a:endParaRPr lang="en-US" sz="92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buyer: CHRO under board pressure, COO with turnover costs — elevate above the survey admin</a:t>
            </a:r>
            <a:endParaRPr lang="en-US" sz="92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criteria to install: full chain coverage · published psychometrics + adverse impact · consultant included not add-on · vertical references · support SLAs · escalator caps — they fail or strain on all six</a:t>
            </a:r>
            <a:endParaRPr lang="en-US" sz="92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unsolved: everything after the survey closes — action capacity, 360 depth, architecture, pay equity, fit, hiring quality</a:t>
            </a:r>
            <a:endParaRPr lang="en-US" sz="92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process: their opacity/escalators are your procurement gift; layer-scoped entry = small, fast, new budget</a:t>
            </a:r>
            <a:endParaRPr lang="en-US" sz="92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Champion: the outcome owner, not the survey admin who loves the brand. One-layer lead, always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Mabry.Ai Signal Intelligence · run 2026-08-07 · cached/indexed sources — verify verbatim quotes before client use · INTERNAL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 Amp — landmines &amp; counter-FUD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landmines — never name the competitor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486400" cy="749808"/>
          </a:xfrm>
          <a:prstGeom prst="roundRect">
            <a:avLst>
              <a:gd name="adj" fmla="val 8537"/>
            </a:avLst>
          </a:prstGeom>
          <a:solidFill>
            <a:srgbClr val="F2F5FB"/>
          </a:solidFill>
          <a:ln/>
        </p:spPr>
      </p:sp>
      <p:sp>
        <p:nvSpPr>
          <p:cNvPr id="5" name="Shape 3"/>
          <p:cNvSpPr/>
          <p:nvPr/>
        </p:nvSpPr>
        <p:spPr>
          <a:xfrm>
            <a:off x="694944" y="1563624"/>
            <a:ext cx="274320" cy="274320"/>
          </a:xfrm>
          <a:prstGeom prst="ellipse">
            <a:avLst/>
          </a:prstGeom>
          <a:solidFill>
            <a:srgbClr val="141B2E"/>
          </a:solidFill>
          <a:ln/>
        </p:spPr>
      </p:sp>
      <p:sp>
        <p:nvSpPr>
          <p:cNvPr id="6" name="Text 4"/>
          <p:cNvSpPr/>
          <p:nvPr/>
        </p:nvSpPr>
        <p:spPr>
          <a:xfrm>
            <a:off x="694944" y="15636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078992" y="1371600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“When engagement scores flag a problem team, what tells you whether it’s the role design, the person-role fit, or the leader?”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548640" y="2167128"/>
            <a:ext cx="5486400" cy="749808"/>
          </a:xfrm>
          <a:prstGeom prst="roundRect">
            <a:avLst>
              <a:gd name="adj" fmla="val 8537"/>
            </a:avLst>
          </a:prstGeom>
          <a:solidFill>
            <a:srgbClr val="F2F5FB"/>
          </a:solidFill>
          <a:ln/>
        </p:spPr>
      </p:sp>
      <p:sp>
        <p:nvSpPr>
          <p:cNvPr id="9" name="Shape 7"/>
          <p:cNvSpPr/>
          <p:nvPr/>
        </p:nvSpPr>
        <p:spPr>
          <a:xfrm>
            <a:off x="694944" y="2404872"/>
            <a:ext cx="274320" cy="274320"/>
          </a:xfrm>
          <a:prstGeom prst="ellipse">
            <a:avLst/>
          </a:prstGeom>
          <a:solidFill>
            <a:srgbClr val="141B2E"/>
          </a:solidFill>
          <a:ln/>
        </p:spPr>
      </p:sp>
      <p:sp>
        <p:nvSpPr>
          <p:cNvPr id="10" name="Text 8"/>
          <p:cNvSpPr/>
          <p:nvPr/>
        </p:nvSpPr>
        <p:spPr>
          <a:xfrm>
            <a:off x="694944" y="2404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78992" y="2212848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“Does your 360 measure a validated competency model with certified debriefs — or collect open-text feedback?”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548640" y="3008376"/>
            <a:ext cx="5486400" cy="749808"/>
          </a:xfrm>
          <a:prstGeom prst="roundRect">
            <a:avLst>
              <a:gd name="adj" fmla="val 8537"/>
            </a:avLst>
          </a:prstGeom>
          <a:solidFill>
            <a:srgbClr val="F2F5FB"/>
          </a:solidFill>
          <a:ln/>
        </p:spPr>
      </p:sp>
      <p:sp>
        <p:nvSpPr>
          <p:cNvPr id="13" name="Shape 11"/>
          <p:cNvSpPr/>
          <p:nvPr/>
        </p:nvSpPr>
        <p:spPr>
          <a:xfrm>
            <a:off x="694944" y="3246120"/>
            <a:ext cx="274320" cy="274320"/>
          </a:xfrm>
          <a:prstGeom prst="ellipse">
            <a:avLst/>
          </a:prstGeom>
          <a:solidFill>
            <a:srgbClr val="141B2E"/>
          </a:solidFill>
          <a:ln/>
        </p:spPr>
      </p:sp>
      <p:sp>
        <p:nvSpPr>
          <p:cNvPr id="14" name="Text 12"/>
          <p:cNvSpPr/>
          <p:nvPr/>
        </p:nvSpPr>
        <p:spPr>
          <a:xfrm>
            <a:off x="694944" y="3246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078992" y="3054096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validity and adverse-impact evidence will each vendor put on the table?”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548640" y="3849624"/>
            <a:ext cx="5486400" cy="749808"/>
          </a:xfrm>
          <a:prstGeom prst="roundRect">
            <a:avLst>
              <a:gd name="adj" fmla="val 8537"/>
            </a:avLst>
          </a:prstGeom>
          <a:solidFill>
            <a:srgbClr val="F2F5FB"/>
          </a:solidFill>
          <a:ln/>
        </p:spPr>
      </p:sp>
      <p:sp>
        <p:nvSpPr>
          <p:cNvPr id="17" name="Shape 15"/>
          <p:cNvSpPr/>
          <p:nvPr/>
        </p:nvSpPr>
        <p:spPr>
          <a:xfrm>
            <a:off x="694944" y="4087368"/>
            <a:ext cx="274320" cy="274320"/>
          </a:xfrm>
          <a:prstGeom prst="ellipse">
            <a:avLst/>
          </a:prstGeom>
          <a:solidFill>
            <a:srgbClr val="141B2E"/>
          </a:solidFill>
          <a:ln/>
        </p:spPr>
      </p:sp>
      <p:sp>
        <p:nvSpPr>
          <p:cNvPr id="18" name="Text 16"/>
          <p:cNvSpPr/>
          <p:nvPr/>
        </p:nvSpPr>
        <p:spPr>
          <a:xfrm>
            <a:off x="694944" y="40873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078992" y="3895344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“Who will your CSM be in 12 months, and what’s the escalation path past the chatbot?”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548640" y="4690872"/>
            <a:ext cx="5486400" cy="749808"/>
          </a:xfrm>
          <a:prstGeom prst="roundRect">
            <a:avLst>
              <a:gd name="adj" fmla="val 8537"/>
            </a:avLst>
          </a:prstGeom>
          <a:solidFill>
            <a:srgbClr val="F2F5FB"/>
          </a:solidFill>
          <a:ln/>
        </p:spPr>
      </p:sp>
      <p:sp>
        <p:nvSpPr>
          <p:cNvPr id="21" name="Shape 19"/>
          <p:cNvSpPr/>
          <p:nvPr/>
        </p:nvSpPr>
        <p:spPr>
          <a:xfrm>
            <a:off x="694944" y="4928616"/>
            <a:ext cx="274320" cy="274320"/>
          </a:xfrm>
          <a:prstGeom prst="ellipse">
            <a:avLst/>
          </a:prstGeom>
          <a:solidFill>
            <a:srgbClr val="141B2E"/>
          </a:solidFill>
          <a:ln/>
        </p:spPr>
      </p:sp>
      <p:sp>
        <p:nvSpPr>
          <p:cNvPr id="22" name="Text 20"/>
          <p:cNvSpPr/>
          <p:nvPr/>
        </p:nvSpPr>
        <p:spPr>
          <a:xfrm>
            <a:off x="694944" y="49286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078992" y="4736592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annual price escalator is in the renewal, and which capabilities are add-ons on top of the module price?”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548640" y="5532120"/>
            <a:ext cx="5486400" cy="749808"/>
          </a:xfrm>
          <a:prstGeom prst="roundRect">
            <a:avLst>
              <a:gd name="adj" fmla="val 8537"/>
            </a:avLst>
          </a:prstGeom>
          <a:solidFill>
            <a:srgbClr val="F2F5FB"/>
          </a:solidFill>
          <a:ln/>
        </p:spPr>
      </p:sp>
      <p:sp>
        <p:nvSpPr>
          <p:cNvPr id="25" name="Shape 23"/>
          <p:cNvSpPr/>
          <p:nvPr/>
        </p:nvSpPr>
        <p:spPr>
          <a:xfrm>
            <a:off x="694944" y="5769864"/>
            <a:ext cx="274320" cy="274320"/>
          </a:xfrm>
          <a:prstGeom prst="ellipse">
            <a:avLst/>
          </a:prstGeom>
          <a:solidFill>
            <a:srgbClr val="141B2E"/>
          </a:solidFill>
          <a:ln/>
        </p:spPr>
      </p:sp>
      <p:sp>
        <p:nvSpPr>
          <p:cNvPr id="26" name="Text 24"/>
          <p:cNvSpPr/>
          <p:nvPr/>
        </p:nvSpPr>
        <p:spPr>
          <a:xfrm>
            <a:off x="694944" y="5769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078992" y="5577840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“When the survey closes, who actually sits with your managers and builds the action plan?”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6400800" y="9326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They’ll say → you say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6400800" y="1325880"/>
            <a:ext cx="5239512" cy="603504"/>
          </a:xfrm>
          <a:prstGeom prst="roundRect">
            <a:avLst>
              <a:gd name="adj" fmla="val 10606"/>
            </a:avLst>
          </a:prstGeom>
          <a:solidFill>
            <a:srgbClr val="FBEAEA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0" y="1362456"/>
            <a:ext cx="4892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“Four vendors sounds like an integration nightmare.”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400800" y="2002536"/>
            <a:ext cx="5239512" cy="877824"/>
          </a:xfrm>
          <a:prstGeom prst="roundRect">
            <a:avLst>
              <a:gd name="adj" fmla="val 7292"/>
            </a:avLst>
          </a:prstGeom>
          <a:solidFill>
            <a:srgbClr val="E4F5F1"/>
          </a:solidFill>
          <a:ln/>
        </p:spPr>
      </p:sp>
      <p:sp>
        <p:nvSpPr>
          <p:cNvPr id="32" name="Text 30"/>
          <p:cNvSpPr/>
          <p:nvPr/>
        </p:nvSpPr>
        <p:spPr>
          <a:xfrm>
            <a:off x="6583680" y="2039112"/>
            <a:ext cx="4892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layer, one contract, one consultant. And there’s nothing on their side to integrate to — role, person, and fit modules don’t exist.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400800" y="3008376"/>
            <a:ext cx="5239512" cy="603504"/>
          </a:xfrm>
          <a:prstGeom prst="roundRect">
            <a:avLst>
              <a:gd name="adj" fmla="val 10606"/>
            </a:avLst>
          </a:prstGeom>
          <a:solidFill>
            <a:srgbClr val="FBEAEA"/>
          </a:solidFill>
          <a:ln/>
        </p:spPr>
      </p:sp>
      <p:sp>
        <p:nvSpPr>
          <p:cNvPr id="34" name="Text 32"/>
          <p:cNvSpPr/>
          <p:nvPr/>
        </p:nvSpPr>
        <p:spPr>
          <a:xfrm>
            <a:off x="6583680" y="3044952"/>
            <a:ext cx="4892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“They have free AI now — AI Coach.”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400800" y="3685032"/>
            <a:ext cx="5239512" cy="877824"/>
          </a:xfrm>
          <a:prstGeom prst="roundRect">
            <a:avLst>
              <a:gd name="adj" fmla="val 7292"/>
            </a:avLst>
          </a:prstGeom>
          <a:solidFill>
            <a:srgbClr val="E4F5F1"/>
          </a:solidFill>
          <a:ln/>
        </p:spPr>
      </p:sp>
      <p:sp>
        <p:nvSpPr>
          <p:cNvPr id="36" name="Text 34"/>
          <p:cNvSpPr/>
          <p:nvPr/>
        </p:nvSpPr>
        <p:spPr>
          <a:xfrm>
            <a:off x="6583680" y="3721608"/>
            <a:ext cx="4892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product — coaching from sentiment data only. AI on one layer of data is a very confident summary of a survey.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400800" y="4690872"/>
            <a:ext cx="5239512" cy="603504"/>
          </a:xfrm>
          <a:prstGeom prst="roundRect">
            <a:avLst>
              <a:gd name="adj" fmla="val 10606"/>
            </a:avLst>
          </a:prstGeom>
          <a:solidFill>
            <a:srgbClr val="FBEAEA"/>
          </a:solidFill>
          <a:ln/>
        </p:spPr>
      </p:sp>
      <p:sp>
        <p:nvSpPr>
          <p:cNvPr id="38" name="Text 36"/>
          <p:cNvSpPr/>
          <p:nvPr/>
        </p:nvSpPr>
        <p:spPr>
          <a:xfrm>
            <a:off x="6583680" y="4727448"/>
            <a:ext cx="4892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“They’re a big, stable company.”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400800" y="5367528"/>
            <a:ext cx="5239512" cy="877824"/>
          </a:xfrm>
          <a:prstGeom prst="roundRect">
            <a:avLst>
              <a:gd name="adj" fmla="val 7292"/>
            </a:avLst>
          </a:prstGeom>
          <a:solidFill>
            <a:srgbClr val="E4F5F1"/>
          </a:solidFill>
          <a:ln/>
        </p:spPr>
      </p:sp>
      <p:sp>
        <p:nvSpPr>
          <p:cNvPr id="40" name="Text 38"/>
          <p:cNvSpPr/>
          <p:nvPr/>
        </p:nvSpPr>
        <p:spPr>
          <a:xfrm>
            <a:off x="6583680" y="5404104"/>
            <a:ext cx="4892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layoff rounds in three years, founder replaced by a turnaround CFO, CRO out, 23.5% writedown. Ask who owns your roadmap while they turn it around.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57200" y="65105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Mabry.Ai Signal Intelligence · run 2026-08-07 · cached/indexed sources — verify verbatim quotes before client use · INTERNAL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77640" cy="6858000"/>
          </a:xfrm>
          <a:prstGeom prst="rect">
            <a:avLst/>
          </a:prstGeom>
          <a:solidFill>
            <a:srgbClr val="141B2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457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B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BATTLECARD · THREAT #5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11480" y="7772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Perceptyx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1691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perceptyx.com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20574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B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— DecisionWise leads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11480" y="26060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9D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 Respect the healthcare moat; flank it; own the 500–5K band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1480" y="3337560"/>
            <a:ext cx="3246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600+ customers · ~1/3 of Fortune 100</a:t>
            </a:r>
            <a:endParaRPr lang="en-US" sz="100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fortress: 3.85M workers / 500+ systems; Magnet partner since 2014</a:t>
            </a:r>
            <a:endParaRPr lang="en-US" sz="100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acquisitions, platform renamed 3× in 18 months</a:t>
            </a:r>
            <a:endParaRPr lang="en-US" sz="100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C-suite fully replaced 2025 (Alida/Medallia alumni)</a:t>
            </a:r>
            <a:endParaRPr lang="en-US" sz="100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 of reviewers are enterprise &gt;1K employees</a:t>
            </a:r>
            <a:endParaRPr lang="en-US" sz="100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Quote-only; six-figure ACVs; no 500–5K motion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343400" y="41148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two-minute read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343400" y="960120"/>
            <a:ext cx="75438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listening pure-play and Forrester Wave Leader — enterprise-only in practice</a:t>
            </a:r>
            <a:endParaRPr lang="en-US" sz="115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“Activate for All” overlay runs on top of Qualtrics/Medallia/Glint — they validated run-alongside for us</a:t>
            </a:r>
            <a:endParaRPr lang="en-US" sz="115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blog admits a “nursing leadership gap” — their answer is AI nudges, not coaches</a:t>
            </a:r>
            <a:endParaRPr lang="en-US" sz="115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Role, Person, or Fit product; Lyceum “skill verification” is learning comprehension, not hiring</a:t>
            </a:r>
            <a:endParaRPr lang="en-US" sz="115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attack the Magnet survey — flank with 360 craft, clinical ladders, hiring science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43400" y="4160520"/>
            <a:ext cx="3703320" cy="2148840"/>
          </a:xfrm>
          <a:prstGeom prst="roundRect">
            <a:avLst>
              <a:gd name="adj" fmla="val 3830"/>
            </a:avLst>
          </a:prstGeom>
          <a:solidFill>
            <a:srgbClr val="FBEAE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43159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THEY WIN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0" y="4645152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5A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listening at 10K+ accounts, esp. healthcare systems</a:t>
            </a:r>
            <a:endParaRPr lang="en-US" sz="98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5A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Magnet-cycle survey administration (ANCC partner, approved RN instrument)</a:t>
            </a:r>
            <a:endParaRPr lang="en-US" sz="98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5A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accounts (FedRAMP Moderate since 2022)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8211312" y="4160520"/>
            <a:ext cx="3703320" cy="2148840"/>
          </a:xfrm>
          <a:prstGeom prst="roundRect">
            <a:avLst>
              <a:gd name="adj" fmla="val 3830"/>
            </a:avLst>
          </a:prstGeom>
          <a:solidFill>
            <a:srgbClr val="E4F5F1"/>
          </a:solidFill>
          <a:ln/>
        </p:spPr>
      </p:sp>
      <p:sp>
        <p:nvSpPr>
          <p:cNvPr id="15" name="Text 13"/>
          <p:cNvSpPr/>
          <p:nvPr/>
        </p:nvSpPr>
        <p:spPr>
          <a:xfrm>
            <a:off x="8439912" y="43159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FB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BEAT THEM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439912" y="4645152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Nurse-manager 360s with certified human debriefs — their admitted gap</a:t>
            </a:r>
            <a:endParaRPr lang="en-US" sz="98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STYR clinical ladders / RN leveling via Total Rewards — zero collision</a:t>
            </a:r>
            <a:endParaRPr lang="en-US" sz="98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 hiring science for the turnover they measure but can’t fix</a:t>
            </a:r>
            <a:endParaRPr lang="en-US" sz="98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Sub-enterprise divisions and the whole 500–5K band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4343400" y="651052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Mabry.Ai Signal Intelligence · run 2026-08-07 · cached/indexed sources — verify verbatim quotes before client use · INTERNAL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Perceptyx — positioning &amp; narrative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87782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criteria they install, the criteria they avoid, and the lines they hand us.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4892040"/>
          </a:xfrm>
          <a:prstGeom prst="roundRect">
            <a:avLst>
              <a:gd name="adj" fmla="val 1869"/>
            </a:avLst>
          </a:prstGeom>
          <a:solidFill>
            <a:srgbClr val="F2F5FB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00200"/>
            <a:ext cx="1046988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One-liner: “The AI company for employee experience” — the only Forrester Wave Leader that is EX-pure-play. Full-loop story: listen → analyze → act, with Humu’s behavioral nudges as the differentiator.</a:t>
            </a:r>
            <a:endParaRPr lang="en-US" sz="1150" dirty="0"/>
          </a:p>
          <a:p>
            <a:pPr marL="101600" indent="-1016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Suite (Sep 2025): Conversational Listening, Narrative Analysis (help-docs limitation: CLOSED point-in-time events only), Employee Activation nudges. Real, shipped, young — zero independent customer validation yet.</a:t>
            </a:r>
            <a:endParaRPr lang="en-US" sz="1150" dirty="0"/>
          </a:p>
          <a:p>
            <a:pPr marL="101600" indent="-1016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“Activate for All” (May 2025): their nudge engine sold as an overlay ON TOP of Qualtrics/Medallia/Glint — a strategic gift: they publicly validated the run-alongside architecture TMA uses. Note: explicitly “for every LARGE enterprise.”</a:t>
            </a:r>
            <a:endParaRPr lang="en-US" sz="1150" dirty="0"/>
          </a:p>
          <a:p>
            <a:pPr marL="101600" indent="-1016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 they install: listening breadth, healthcare benchmark scale, AI agents, behavioral science, Forrester Leader, full-service consulting. Criteria they avoid: validity/adverse impact, role architecture, hiring science, mid-market accessibility, transparent pricing.</a:t>
            </a:r>
            <a:endParaRPr lang="en-US" sz="1150" dirty="0"/>
          </a:p>
          <a:p>
            <a:pPr marL="101600" indent="-1016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CEO’s own words are usable: “just aggregating data through surveys isn’t driving change” — he’s attacking his own installed base’s legacy. Quote it back when they lead with benchmark scale.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Mabry.Ai Signal Intelligence · run 2026-08-07 · cached/indexed sources — verify verbatim quotes before client use · INTERNAL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Perceptyx — feature matrix vs. the stack</a:t>
            </a:r>
            <a:endParaRPr lang="en-US" sz="25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11091672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4663440"/>
                <a:gridCol w="409651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Perceptyx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TMA Performance stack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listening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— their fortress, esp. healthcare (census/pulse/lifecycle/crowdsourced)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745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DecisionWise — don’t attack at 10K+ accounts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Healthcare benchmarks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3.85M workers / 500+ systems; Magnet-approved RN instrument; Leapfrog-approved safety survey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745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DecisionWise 50M+ cross-industry — respect it; flank it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360 / leadership dev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Grow: platform 360 + AI nudges (Cultivate lineage re-skinned twice); no custom modeling, no certified debriefs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745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DecisionWise purpose-built 360 — probe: “show a completed executive debrief”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 architecture / pay equity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Nothing — measures pay-fairness FEELINGS, can’t fix structure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745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STYR — pay-transparency laws create the demand their listening surfaces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Assessments / hiring science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Nothing — day-1-of-employment platform; Lyceum “skill verification” = learning comprehension, not hiring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745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TMA + BrainsFirst — their content sells against turnover they only measure post-hire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suite real + documented, but Narrative Analysis limited to closed events; nudges ungrounded in person/role data; Humu struggled standalone (Bersin)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745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“Automated ≠ effective — ask for validated outcome data on nudge-driven change”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Full-service praised by Forrester — but “a dozen+” consultants across 600 accounts = thin per-account coverage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745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DecisionWise consultative model; the between-surveys gap is the wedge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Mid-market fit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Structurally absent: 82% enterprise reviewers; ~1,000-employee practical floor; six-figure custom contracts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745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 native at 500–20K — the cleanest positional gap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5105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Mabry.Ai Signal Intelligence · run 2026-08-07 · cached/indexed sources — verify verbatim quotes before client use · INTERNAL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Perceptyx — exploitable gaps (full ranked list)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87782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first, then the move. Confidence tags in the battlecard.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5486400" cy="1572768"/>
          </a:xfrm>
          <a:prstGeom prst="roundRect">
            <a:avLst>
              <a:gd name="adj" fmla="val 5233"/>
            </a:avLst>
          </a:prstGeom>
          <a:solidFill>
            <a:srgbClr val="F2F5FB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444752"/>
            <a:ext cx="310896" cy="310896"/>
          </a:xfrm>
          <a:prstGeom prst="ellipse">
            <a:avLst/>
          </a:prstGeom>
          <a:solidFill>
            <a:srgbClr val="2FB7A4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444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33856" y="1408176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500–5K motion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68096" y="1828800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“Large enterprise” in their own PR; 82% enterprise reviewer base; custom six-figure contracts; ~70 tracked customers at 10K+ vs ~17 at 1–5K.</a:t>
            </a:r>
            <a:endParaRPr lang="en-US" sz="860" dirty="0"/>
          </a:p>
        </p:txBody>
      </p:sp>
      <p:sp>
        <p:nvSpPr>
          <p:cNvPr id="9" name="Text 7"/>
          <p:cNvSpPr/>
          <p:nvPr/>
        </p:nvSpPr>
        <p:spPr>
          <a:xfrm>
            <a:off x="768096" y="2414016"/>
            <a:ext cx="5074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i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“Who actually staffs your account, at what minimum, with what attention?” Mid-size buyers get junior coverage or no callback.</a:t>
            </a:r>
            <a:endParaRPr lang="en-US" sz="860" dirty="0"/>
          </a:p>
        </p:txBody>
      </p:sp>
      <p:sp>
        <p:nvSpPr>
          <p:cNvPr id="10" name="Shape 8"/>
          <p:cNvSpPr/>
          <p:nvPr/>
        </p:nvSpPr>
        <p:spPr>
          <a:xfrm>
            <a:off x="6263640" y="1298448"/>
            <a:ext cx="5486400" cy="1572768"/>
          </a:xfrm>
          <a:prstGeom prst="roundRect">
            <a:avLst>
              <a:gd name="adj" fmla="val 5233"/>
            </a:avLst>
          </a:prstGeom>
          <a:solidFill>
            <a:srgbClr val="F2F5FB"/>
          </a:solidFill>
          <a:ln/>
        </p:spPr>
      </p:sp>
      <p:sp>
        <p:nvSpPr>
          <p:cNvPr id="11" name="Shape 9"/>
          <p:cNvSpPr/>
          <p:nvPr/>
        </p:nvSpPr>
        <p:spPr>
          <a:xfrm>
            <a:off x="6428232" y="1444752"/>
            <a:ext cx="310896" cy="310896"/>
          </a:xfrm>
          <a:prstGeom prst="ellipse">
            <a:avLst/>
          </a:prstGeom>
          <a:solidFill>
            <a:srgbClr val="2FB7A4"/>
          </a:solidFill>
          <a:ln/>
        </p:spPr>
      </p:sp>
      <p:sp>
        <p:nvSpPr>
          <p:cNvPr id="12" name="Text 10"/>
          <p:cNvSpPr/>
          <p:nvPr/>
        </p:nvSpPr>
        <p:spPr>
          <a:xfrm>
            <a:off x="6428232" y="1444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48856" y="1408176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360/Grow is acquisition-derived, debrief-free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83096" y="1828800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Cultivate lineage re-skinned twice; standardized platform model; no custom competency modeling, no certified debrief network.</a:t>
            </a:r>
            <a:endParaRPr lang="en-US" sz="860" dirty="0"/>
          </a:p>
        </p:txBody>
      </p:sp>
      <p:sp>
        <p:nvSpPr>
          <p:cNvPr id="15" name="Text 13"/>
          <p:cNvSpPr/>
          <p:nvPr/>
        </p:nvSpPr>
        <p:spPr>
          <a:xfrm>
            <a:off x="6483096" y="2414016"/>
            <a:ext cx="5074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i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Probe: “show a completed executive 360 debrief, not the dashboard.”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548640" y="2999232"/>
            <a:ext cx="5486400" cy="1572768"/>
          </a:xfrm>
          <a:prstGeom prst="roundRect">
            <a:avLst>
              <a:gd name="adj" fmla="val 5233"/>
            </a:avLst>
          </a:prstGeom>
          <a:solidFill>
            <a:srgbClr val="F2F5FB"/>
          </a:solidFill>
          <a:ln/>
        </p:spPr>
      </p:sp>
      <p:sp>
        <p:nvSpPr>
          <p:cNvPr id="17" name="Shape 15"/>
          <p:cNvSpPr/>
          <p:nvPr/>
        </p:nvSpPr>
        <p:spPr>
          <a:xfrm>
            <a:off x="713232" y="3145536"/>
            <a:ext cx="310896" cy="310896"/>
          </a:xfrm>
          <a:prstGeom prst="ellipse">
            <a:avLst/>
          </a:prstGeom>
          <a:solidFill>
            <a:srgbClr val="2FB7A4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33856" y="310896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Role, Person, and Fit: zero product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68096" y="3529584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pay-fairness feelings, can’t fix structure; day-1-of-employment platform — everything pre-offer is open field.</a:t>
            </a:r>
            <a:endParaRPr lang="en-US" sz="860" dirty="0"/>
          </a:p>
        </p:txBody>
      </p:sp>
      <p:sp>
        <p:nvSpPr>
          <p:cNvPr id="21" name="Text 19"/>
          <p:cNvSpPr/>
          <p:nvPr/>
        </p:nvSpPr>
        <p:spPr>
          <a:xfrm>
            <a:off x="768096" y="4114800"/>
            <a:ext cx="5074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i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STYR via Total Rewards, TMA+BrainsFirst via TA — buying centers their contract never touches.</a:t>
            </a:r>
            <a:endParaRPr lang="en-US" sz="860" dirty="0"/>
          </a:p>
        </p:txBody>
      </p:sp>
      <p:sp>
        <p:nvSpPr>
          <p:cNvPr id="22" name="Shape 20"/>
          <p:cNvSpPr/>
          <p:nvPr/>
        </p:nvSpPr>
        <p:spPr>
          <a:xfrm>
            <a:off x="6263640" y="2999232"/>
            <a:ext cx="5486400" cy="1572768"/>
          </a:xfrm>
          <a:prstGeom prst="roundRect">
            <a:avLst>
              <a:gd name="adj" fmla="val 5233"/>
            </a:avLst>
          </a:prstGeom>
          <a:solidFill>
            <a:srgbClr val="F2F5FB"/>
          </a:solidFill>
          <a:ln/>
        </p:spPr>
      </p:sp>
      <p:sp>
        <p:nvSpPr>
          <p:cNvPr id="23" name="Shape 21"/>
          <p:cNvSpPr/>
          <p:nvPr/>
        </p:nvSpPr>
        <p:spPr>
          <a:xfrm>
            <a:off x="6428232" y="3145536"/>
            <a:ext cx="310896" cy="310896"/>
          </a:xfrm>
          <a:prstGeom prst="ellipse">
            <a:avLst/>
          </a:prstGeom>
          <a:solidFill>
            <a:srgbClr val="2FB7A4"/>
          </a:solidFill>
          <a:ln/>
        </p:spPr>
      </p:sp>
      <p:sp>
        <p:nvSpPr>
          <p:cNvPr id="24" name="Text 22"/>
          <p:cNvSpPr/>
          <p:nvPr/>
        </p:nvSpPr>
        <p:spPr>
          <a:xfrm>
            <a:off x="642823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48856" y="310896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debt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483096" y="3529584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Waggl + CultureIQ + Cultivate + Humu + Lyceum in 5 yrs; Sept 2025 re-platforming; Bersin on Humu: “HR Tech Is Harder Than It Seems.”</a:t>
            </a:r>
            <a:endParaRPr lang="en-US" sz="860" dirty="0"/>
          </a:p>
        </p:txBody>
      </p:sp>
      <p:sp>
        <p:nvSpPr>
          <p:cNvPr id="27" name="Text 25"/>
          <p:cNvSpPr/>
          <p:nvPr/>
        </p:nvSpPr>
        <p:spPr>
          <a:xfrm>
            <a:off x="6483096" y="4114800"/>
            <a:ext cx="5074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i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question, not assertion: “which modules came from acquisitions — and are they on one data model?”</a:t>
            </a:r>
            <a:endParaRPr lang="en-US" sz="860" dirty="0"/>
          </a:p>
        </p:txBody>
      </p:sp>
      <p:sp>
        <p:nvSpPr>
          <p:cNvPr id="28" name="Shape 26"/>
          <p:cNvSpPr/>
          <p:nvPr/>
        </p:nvSpPr>
        <p:spPr>
          <a:xfrm>
            <a:off x="548640" y="4700016"/>
            <a:ext cx="5486400" cy="1572768"/>
          </a:xfrm>
          <a:prstGeom prst="roundRect">
            <a:avLst>
              <a:gd name="adj" fmla="val 5233"/>
            </a:avLst>
          </a:prstGeom>
          <a:solidFill>
            <a:srgbClr val="F2F5FB"/>
          </a:solidFill>
          <a:ln/>
        </p:spPr>
      </p:sp>
      <p:sp>
        <p:nvSpPr>
          <p:cNvPr id="29" name="Shape 27"/>
          <p:cNvSpPr/>
          <p:nvPr/>
        </p:nvSpPr>
        <p:spPr>
          <a:xfrm>
            <a:off x="713232" y="4846320"/>
            <a:ext cx="310896" cy="310896"/>
          </a:xfrm>
          <a:prstGeom prst="ellipse">
            <a:avLst/>
          </a:prstGeom>
          <a:solidFill>
            <a:srgbClr val="2FB7A4"/>
          </a:solidFill>
          <a:ln/>
        </p:spPr>
      </p:sp>
      <p:sp>
        <p:nvSpPr>
          <p:cNvPr id="30" name="Text 28"/>
          <p:cNvSpPr/>
          <p:nvPr/>
        </p:nvSpPr>
        <p:spPr>
          <a:xfrm>
            <a:off x="713232" y="4846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33856" y="4809744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claims ahead of documented reality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68096" y="5230368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Analysis limited to closed events (own help docs) vs “real-time intelligence” marketing; Theme Frequency called “largely inaccurate” (single-source — probe, don’t assert); no independent validation of the newer agents.</a:t>
            </a:r>
            <a:endParaRPr lang="en-US" sz="860" dirty="0"/>
          </a:p>
        </p:txBody>
      </p:sp>
      <p:sp>
        <p:nvSpPr>
          <p:cNvPr id="33" name="Text 31"/>
          <p:cNvSpPr/>
          <p:nvPr/>
        </p:nvSpPr>
        <p:spPr>
          <a:xfrm>
            <a:off x="768096" y="5815584"/>
            <a:ext cx="5074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i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Bake-off scope questions: “which agents work on live vs closed data — and what validated outcome evidence exists?”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6263640" y="4700016"/>
            <a:ext cx="5486400" cy="1572768"/>
          </a:xfrm>
          <a:prstGeom prst="roundRect">
            <a:avLst>
              <a:gd name="adj" fmla="val 5233"/>
            </a:avLst>
          </a:prstGeom>
          <a:solidFill>
            <a:srgbClr val="F2F5FB"/>
          </a:solidFill>
          <a:ln/>
        </p:spPr>
      </p:sp>
      <p:sp>
        <p:nvSpPr>
          <p:cNvPr id="35" name="Shape 33"/>
          <p:cNvSpPr/>
          <p:nvPr/>
        </p:nvSpPr>
        <p:spPr>
          <a:xfrm>
            <a:off x="6428232" y="4846320"/>
            <a:ext cx="310896" cy="310896"/>
          </a:xfrm>
          <a:prstGeom prst="ellipse">
            <a:avLst/>
          </a:prstGeom>
          <a:solidFill>
            <a:srgbClr val="2FB7A4"/>
          </a:solidFill>
          <a:ln/>
        </p:spPr>
      </p:sp>
      <p:sp>
        <p:nvSpPr>
          <p:cNvPr id="36" name="Text 34"/>
          <p:cNvSpPr/>
          <p:nvPr/>
        </p:nvSpPr>
        <p:spPr>
          <a:xfrm>
            <a:off x="6428232" y="4846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848856" y="4809744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blanks: CU, higher ed, K-12, state/local gov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483096" y="5230368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credit-union evidence; no higher-ed or K-12 case studies; gov footprint is federal-only (FedRAMP).</a:t>
            </a:r>
            <a:endParaRPr lang="en-US" sz="860" dirty="0"/>
          </a:p>
        </p:txBody>
      </p:sp>
      <p:sp>
        <p:nvSpPr>
          <p:cNvPr id="39" name="Text 37"/>
          <p:cNvSpPr/>
          <p:nvPr/>
        </p:nvSpPr>
        <p:spPr>
          <a:xfrm>
            <a:off x="6483096" y="5815584"/>
            <a:ext cx="5074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i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of TMA’s five verticals effectively uncontested; healthcare is the only collision — and only at enterprise scale.</a:t>
            </a:r>
            <a:endParaRPr lang="en-US" sz="860" dirty="0"/>
          </a:p>
        </p:txBody>
      </p:sp>
      <p:sp>
        <p:nvSpPr>
          <p:cNvPr id="40" name="Text 38"/>
          <p:cNvSpPr/>
          <p:nvPr/>
        </p:nvSpPr>
        <p:spPr>
          <a:xfrm>
            <a:off x="457200" y="65105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Mabry.Ai Signal Intelligence · run 2026-08-07 · cached/indexed sources — verify verbatim quotes before client use · INTERNAL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Perceptyx — pricing, complaints, ex-employee signals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3611880" cy="5029200"/>
          </a:xfrm>
          <a:prstGeom prst="roundRect">
            <a:avLst>
              <a:gd name="adj" fmla="val 2532"/>
            </a:avLst>
          </a:prstGeom>
          <a:solidFill>
            <a:srgbClr val="F2F5FB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1325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signals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49808" y="1755648"/>
            <a:ext cx="32461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Quote-only enterprise; no published tiers; services bundled; deployments likely six figures; no Vendr/Spendflo benchmarks exist</a:t>
            </a:r>
            <a:endParaRPr lang="en-US" sz="92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56% ACV increase self-reported (2023) = deliberate upmarket march</a:t>
            </a:r>
            <a:endParaRPr lang="en-US" sz="92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500–5K band price isn’t the fight — FIT is: minimums and staffing model price them out or under-serve</a:t>
            </a:r>
            <a:endParaRPr lang="en-US" sz="92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enterprise healthcare: don’t discount against the fortress — sell the layers their contract doesn’t cover as separate budget with separate buying centers</a:t>
            </a:r>
            <a:endParaRPr lang="en-US" sz="920" dirty="0"/>
          </a:p>
        </p:txBody>
      </p:sp>
      <p:sp>
        <p:nvSpPr>
          <p:cNvPr id="6" name="Shape 4"/>
          <p:cNvSpPr/>
          <p:nvPr/>
        </p:nvSpPr>
        <p:spPr>
          <a:xfrm>
            <a:off x="4343400" y="1143000"/>
            <a:ext cx="3611880" cy="5029200"/>
          </a:xfrm>
          <a:prstGeom prst="roundRect">
            <a:avLst>
              <a:gd name="adj" fmla="val 2532"/>
            </a:avLst>
          </a:prstGeom>
          <a:solidFill>
            <a:srgbClr val="F2F5FB"/>
          </a:solidFill>
          <a:ln/>
        </p:spPr>
      </p:sp>
      <p:sp>
        <p:nvSpPr>
          <p:cNvPr id="7" name="Text 5"/>
          <p:cNvSpPr/>
          <p:nvPr/>
        </p:nvSpPr>
        <p:spPr>
          <a:xfrm>
            <a:off x="4544568" y="1325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complaints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44568" y="1755648"/>
            <a:ext cx="32461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(3+): reporting/analytics complexity requiring training/services — insight gated behind their consultants</a:t>
            </a:r>
            <a:endParaRPr lang="en-US" sz="92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(3+): pricing opacity + enterprise-only economics</a:t>
            </a:r>
            <a:endParaRPr lang="en-US" sz="92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(3+ via triangulation): instability — layoff cadence, C-suite turnover, ~25% AE quota attainment (RepVue)</a:t>
            </a:r>
            <a:endParaRPr lang="en-US" sz="92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Sharpest single quote (probe only): Theme Frequency “largely inaccurate regardless of survey type”</a:t>
            </a:r>
            <a:endParaRPr lang="en-US" sz="92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Respect: support rated 8.7/10, drill-down analytics praised, benchmarking valued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8138160" y="1143000"/>
            <a:ext cx="3611880" cy="5029200"/>
          </a:xfrm>
          <a:prstGeom prst="roundRect">
            <a:avLst>
              <a:gd name="adj" fmla="val 2532"/>
            </a:avLst>
          </a:prstGeom>
          <a:solidFill>
            <a:srgbClr val="F2F5FB"/>
          </a:solidFill>
          <a:ln/>
        </p:spPr>
      </p:sp>
      <p:sp>
        <p:nvSpPr>
          <p:cNvPr id="10" name="Text 8"/>
          <p:cNvSpPr/>
          <p:nvPr/>
        </p:nvSpPr>
        <p:spPr>
          <a:xfrm>
            <a:off x="8339328" y="1325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Ex-employee signals (public only)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339328" y="1755648"/>
            <a:ext cx="32461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Glassdoor 3.6/~160 (57% recommend): “layoffs every time the company misses a number”; “perpetual feeling of ‘will I be next?’”; “keeps acquiring companies while having rounds of layoffs” (anonymous, directional)</a:t>
            </a:r>
            <a:endParaRPr lang="en-US" sz="92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C-suite replaced 2025; co-founder out after 22 years; 3 platform renames in 18 months; Lyceum “integrated” in 10 weeks — rebrand speed, not integration depth</a:t>
            </a:r>
            <a:endParaRPr lang="en-US" sz="92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(marked): churning, over-assigned sales org = quarter-end desperation discounting + account-team turnover — time negotiations accordingly; demand continuity clauses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457200" y="65105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Mabry.Ai Signal Intelligence · run 2026-08-07 · cached/indexed sources — verify verbatim quotes before client use · INTERNAL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Perceptyx — run-alongside plan &amp; MEDDPICC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440680" cy="5029200"/>
          </a:xfrm>
          <a:prstGeom prst="roundRect">
            <a:avLst>
              <a:gd name="adj" fmla="val 1818"/>
            </a:avLst>
          </a:prstGeom>
          <a:solidFill>
            <a:srgbClr val="E4F5F1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32588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FB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RUN-ALONGSIDE / ENTRY WEDGES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77240" y="1737360"/>
            <a:ext cx="502920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Wedge 1: 360/leadership development — their newest, least-referenced, acquisition-derived module; different buying center (L&amp;D/OD/CNO). Mirror their own Activate-for-All logic</a:t>
            </a:r>
            <a:endParaRPr lang="en-US" sz="1000" dirty="0"/>
          </a:p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Wedge 2: consultative action planning / Magnet-cycle support — the 4-year evidence cycle needs leadership development BETWEEN surveys; their own blog concedes the nursing leadership gap</a:t>
            </a:r>
            <a:endParaRPr lang="en-US" sz="1000" dirty="0"/>
          </a:p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Wedge 3–4: STYR via Total Rewards/CFO (clinical ladders, RN leveling) and TMA+BrainsFirst via TA (“your scores diagnose turnover; we fix the intake”) — zero collision</a:t>
            </a:r>
            <a:endParaRPr lang="en-US" sz="1000" dirty="0"/>
          </a:p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Displacement triggers 12–18 months out: renewal escalation, Discover re-platform migrations, Lyceum distraction, CHRO turnover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199632" y="1143000"/>
            <a:ext cx="5440680" cy="5029200"/>
          </a:xfrm>
          <a:prstGeom prst="roundRect">
            <a:avLst>
              <a:gd name="adj" fmla="val 1818"/>
            </a:avLst>
          </a:prstGeom>
          <a:solidFill>
            <a:srgbClr val="F2F5FB"/>
          </a:solidFill>
          <a:ln/>
        </p:spPr>
      </p:sp>
      <p:sp>
        <p:nvSpPr>
          <p:cNvPr id="7" name="Text 5"/>
          <p:cNvSpPr/>
          <p:nvPr/>
        </p:nvSpPr>
        <p:spPr>
          <a:xfrm>
            <a:off x="6428232" y="132588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MEDDPICC ANGLES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28232" y="1737360"/>
            <a:ext cx="502920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validated 360 outcomes (their nudges have no published outcome data) · 91% participation anchor · Atos + TOPdesk anchors · time-to-value at 500–5K</a:t>
            </a:r>
            <a:endParaRPr lang="en-US" sz="92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criteria to install: full-chain coverage · validity + adverse impact · consultant hours IN the contract · platform stability (renames trailing 24 mo) · size/vertical references · AI scoped in documentation, not press releases</a:t>
            </a:r>
            <a:endParaRPr lang="en-US" sz="92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unsolved: everything between and beneath the surveys — leader development with instruments, role/pay architecture, hiring quality, any org under ~5K</a:t>
            </a:r>
            <a:endParaRPr lang="en-US" sz="92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process: six-figure custom contracts + bundled opacity vs your layer-scoped entry and named-consultant commitments; their quarter-end desperation is your timing</a:t>
            </a:r>
            <a:endParaRPr lang="en-US" sz="92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Champion: build in L&amp;D/OD, the CNO’s office, Total Rewards, TA — four buying centers their platform never calls on. Never make the survey owner defend their purchase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Mabry.Ai Signal Intelligence · run 2026-08-07 · cached/indexed sources — verify verbatim quotes before client use · INTERNAL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Perceptyx — landmines &amp; counter-FUD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landmines — never name the competitor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486400" cy="749808"/>
          </a:xfrm>
          <a:prstGeom prst="roundRect">
            <a:avLst>
              <a:gd name="adj" fmla="val 8537"/>
            </a:avLst>
          </a:prstGeom>
          <a:solidFill>
            <a:srgbClr val="F2F5FB"/>
          </a:solidFill>
          <a:ln/>
        </p:spPr>
      </p:sp>
      <p:sp>
        <p:nvSpPr>
          <p:cNvPr id="5" name="Shape 3"/>
          <p:cNvSpPr/>
          <p:nvPr/>
        </p:nvSpPr>
        <p:spPr>
          <a:xfrm>
            <a:off x="694944" y="1563624"/>
            <a:ext cx="274320" cy="274320"/>
          </a:xfrm>
          <a:prstGeom prst="ellipse">
            <a:avLst/>
          </a:prstGeom>
          <a:solidFill>
            <a:srgbClr val="141B2E"/>
          </a:solidFill>
          <a:ln/>
        </p:spPr>
      </p:sp>
      <p:sp>
        <p:nvSpPr>
          <p:cNvPr id="6" name="Text 4"/>
          <p:cNvSpPr/>
          <p:nvPr/>
        </p:nvSpPr>
        <p:spPr>
          <a:xfrm>
            <a:off x="694944" y="15636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078992" y="1371600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“Between surveys, who develops your nurse managers — nudges, or people?”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548640" y="2167128"/>
            <a:ext cx="5486400" cy="749808"/>
          </a:xfrm>
          <a:prstGeom prst="roundRect">
            <a:avLst>
              <a:gd name="adj" fmla="val 8537"/>
            </a:avLst>
          </a:prstGeom>
          <a:solidFill>
            <a:srgbClr val="F2F5FB"/>
          </a:solidFill>
          <a:ln/>
        </p:spPr>
      </p:sp>
      <p:sp>
        <p:nvSpPr>
          <p:cNvPr id="9" name="Shape 7"/>
          <p:cNvSpPr/>
          <p:nvPr/>
        </p:nvSpPr>
        <p:spPr>
          <a:xfrm>
            <a:off x="694944" y="2404872"/>
            <a:ext cx="274320" cy="274320"/>
          </a:xfrm>
          <a:prstGeom prst="ellipse">
            <a:avLst/>
          </a:prstGeom>
          <a:solidFill>
            <a:srgbClr val="141B2E"/>
          </a:solidFill>
          <a:ln/>
        </p:spPr>
      </p:sp>
      <p:sp>
        <p:nvSpPr>
          <p:cNvPr id="10" name="Text 8"/>
          <p:cNvSpPr/>
          <p:nvPr/>
        </p:nvSpPr>
        <p:spPr>
          <a:xfrm>
            <a:off x="694944" y="2404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78992" y="2212848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“Show a completed executive 360 debrief from your current platform — not the dashboard.”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548640" y="3008376"/>
            <a:ext cx="5486400" cy="749808"/>
          </a:xfrm>
          <a:prstGeom prst="roundRect">
            <a:avLst>
              <a:gd name="adj" fmla="val 8537"/>
            </a:avLst>
          </a:prstGeom>
          <a:solidFill>
            <a:srgbClr val="F2F5FB"/>
          </a:solidFill>
          <a:ln/>
        </p:spPr>
      </p:sp>
      <p:sp>
        <p:nvSpPr>
          <p:cNvPr id="13" name="Shape 11"/>
          <p:cNvSpPr/>
          <p:nvPr/>
        </p:nvSpPr>
        <p:spPr>
          <a:xfrm>
            <a:off x="694944" y="3246120"/>
            <a:ext cx="274320" cy="274320"/>
          </a:xfrm>
          <a:prstGeom prst="ellipse">
            <a:avLst/>
          </a:prstGeom>
          <a:solidFill>
            <a:srgbClr val="141B2E"/>
          </a:solidFill>
          <a:ln/>
        </p:spPr>
      </p:sp>
      <p:sp>
        <p:nvSpPr>
          <p:cNvPr id="14" name="Text 12"/>
          <p:cNvSpPr/>
          <p:nvPr/>
        </p:nvSpPr>
        <p:spPr>
          <a:xfrm>
            <a:off x="694944" y="3246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078992" y="3054096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“Which platform modules arrived by acquisition, and are they on one data model?”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548640" y="3849624"/>
            <a:ext cx="5486400" cy="749808"/>
          </a:xfrm>
          <a:prstGeom prst="roundRect">
            <a:avLst>
              <a:gd name="adj" fmla="val 8537"/>
            </a:avLst>
          </a:prstGeom>
          <a:solidFill>
            <a:srgbClr val="F2F5FB"/>
          </a:solidFill>
          <a:ln/>
        </p:spPr>
      </p:sp>
      <p:sp>
        <p:nvSpPr>
          <p:cNvPr id="17" name="Shape 15"/>
          <p:cNvSpPr/>
          <p:nvPr/>
        </p:nvSpPr>
        <p:spPr>
          <a:xfrm>
            <a:off x="694944" y="4087368"/>
            <a:ext cx="274320" cy="274320"/>
          </a:xfrm>
          <a:prstGeom prst="ellipse">
            <a:avLst/>
          </a:prstGeom>
          <a:solidFill>
            <a:srgbClr val="141B2E"/>
          </a:solidFill>
          <a:ln/>
        </p:spPr>
      </p:sp>
      <p:sp>
        <p:nvSpPr>
          <p:cNvPr id="18" name="Text 16"/>
          <p:cNvSpPr/>
          <p:nvPr/>
        </p:nvSpPr>
        <p:spPr>
          <a:xfrm>
            <a:off x="694944" y="40873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078992" y="3895344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“In the 500–5K band, who staffs your account at a vendor whose base is 82% large enterprise?”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548640" y="4690872"/>
            <a:ext cx="5486400" cy="749808"/>
          </a:xfrm>
          <a:prstGeom prst="roundRect">
            <a:avLst>
              <a:gd name="adj" fmla="val 8537"/>
            </a:avLst>
          </a:prstGeom>
          <a:solidFill>
            <a:srgbClr val="F2F5FB"/>
          </a:solidFill>
          <a:ln/>
        </p:spPr>
      </p:sp>
      <p:sp>
        <p:nvSpPr>
          <p:cNvPr id="21" name="Shape 19"/>
          <p:cNvSpPr/>
          <p:nvPr/>
        </p:nvSpPr>
        <p:spPr>
          <a:xfrm>
            <a:off x="694944" y="4928616"/>
            <a:ext cx="274320" cy="274320"/>
          </a:xfrm>
          <a:prstGeom prst="ellipse">
            <a:avLst/>
          </a:prstGeom>
          <a:solidFill>
            <a:srgbClr val="141B2E"/>
          </a:solidFill>
          <a:ln/>
        </p:spPr>
      </p:sp>
      <p:sp>
        <p:nvSpPr>
          <p:cNvPr id="22" name="Text 20"/>
          <p:cNvSpPr/>
          <p:nvPr/>
        </p:nvSpPr>
        <p:spPr>
          <a:xfrm>
            <a:off x="694944" y="49286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078992" y="4736592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many times has the platform been renamed or re-architected in two years — and what did each migration ask of admins?”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548640" y="5532120"/>
            <a:ext cx="5486400" cy="749808"/>
          </a:xfrm>
          <a:prstGeom prst="roundRect">
            <a:avLst>
              <a:gd name="adj" fmla="val 8537"/>
            </a:avLst>
          </a:prstGeom>
          <a:solidFill>
            <a:srgbClr val="F2F5FB"/>
          </a:solidFill>
          <a:ln/>
        </p:spPr>
      </p:sp>
      <p:sp>
        <p:nvSpPr>
          <p:cNvPr id="25" name="Shape 23"/>
          <p:cNvSpPr/>
          <p:nvPr/>
        </p:nvSpPr>
        <p:spPr>
          <a:xfrm>
            <a:off x="694944" y="5769864"/>
            <a:ext cx="274320" cy="274320"/>
          </a:xfrm>
          <a:prstGeom prst="ellipse">
            <a:avLst/>
          </a:prstGeom>
          <a:solidFill>
            <a:srgbClr val="141B2E"/>
          </a:solidFill>
          <a:ln/>
        </p:spPr>
      </p:sp>
      <p:sp>
        <p:nvSpPr>
          <p:cNvPr id="26" name="Text 24"/>
          <p:cNvSpPr/>
          <p:nvPr/>
        </p:nvSpPr>
        <p:spPr>
          <a:xfrm>
            <a:off x="694944" y="5769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078992" y="5577840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“Between survey administrations, who builds your Magnet leadership-development evidence — the platform, or people?”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6400800" y="9326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They’ll say → you say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6400800" y="1325880"/>
            <a:ext cx="5239512" cy="603504"/>
          </a:xfrm>
          <a:prstGeom prst="roundRect">
            <a:avLst>
              <a:gd name="adj" fmla="val 10606"/>
            </a:avLst>
          </a:prstGeom>
          <a:solidFill>
            <a:srgbClr val="FBEAEA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0" y="1362456"/>
            <a:ext cx="4892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“We’re the healthcare standard — the Magnet instrument.”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400800" y="2002536"/>
            <a:ext cx="5239512" cy="877824"/>
          </a:xfrm>
          <a:prstGeom prst="roundRect">
            <a:avLst>
              <a:gd name="adj" fmla="val 7292"/>
            </a:avLst>
          </a:prstGeom>
          <a:solidFill>
            <a:srgbClr val="E4F5F1"/>
          </a:solidFill>
          <a:ln/>
        </p:spPr>
      </p:sp>
      <p:sp>
        <p:nvSpPr>
          <p:cNvPr id="32" name="Text 30"/>
          <p:cNvSpPr/>
          <p:nvPr/>
        </p:nvSpPr>
        <p:spPr>
          <a:xfrm>
            <a:off x="6583680" y="2039112"/>
            <a:ext cx="4892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it. What happens between surveys: nurse-manager development, clinical-ladder structure, quality of hires? Their own research concedes the leadership gap.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400800" y="3008376"/>
            <a:ext cx="5239512" cy="603504"/>
          </a:xfrm>
          <a:prstGeom prst="roundRect">
            <a:avLst>
              <a:gd name="adj" fmla="val 10606"/>
            </a:avLst>
          </a:prstGeom>
          <a:solidFill>
            <a:srgbClr val="FBEAEA"/>
          </a:solidFill>
          <a:ln/>
        </p:spPr>
      </p:sp>
      <p:sp>
        <p:nvSpPr>
          <p:cNvPr id="34" name="Text 32"/>
          <p:cNvSpPr/>
          <p:nvPr/>
        </p:nvSpPr>
        <p:spPr>
          <a:xfrm>
            <a:off x="6583680" y="3044952"/>
            <a:ext cx="4892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“Our AI agents act automatically.”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400800" y="3685032"/>
            <a:ext cx="5239512" cy="877824"/>
          </a:xfrm>
          <a:prstGeom prst="roundRect">
            <a:avLst>
              <a:gd name="adj" fmla="val 7292"/>
            </a:avLst>
          </a:prstGeom>
          <a:solidFill>
            <a:srgbClr val="E4F5F1"/>
          </a:solidFill>
          <a:ln/>
        </p:spPr>
      </p:sp>
      <p:sp>
        <p:nvSpPr>
          <p:cNvPr id="36" name="Text 34"/>
          <p:cNvSpPr/>
          <p:nvPr/>
        </p:nvSpPr>
        <p:spPr>
          <a:xfrm>
            <a:off x="6583680" y="3721608"/>
            <a:ext cx="4892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Nudges are generic prompts from sentiment — no person or role data beneath them. Ask for validated outcome data. Automated ≠ effective.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400800" y="4690872"/>
            <a:ext cx="5239512" cy="603504"/>
          </a:xfrm>
          <a:prstGeom prst="roundRect">
            <a:avLst>
              <a:gd name="adj" fmla="val 10606"/>
            </a:avLst>
          </a:prstGeom>
          <a:solidFill>
            <a:srgbClr val="FBEAEA"/>
          </a:solidFill>
          <a:ln/>
        </p:spPr>
      </p:sp>
      <p:sp>
        <p:nvSpPr>
          <p:cNvPr id="38" name="Text 36"/>
          <p:cNvSpPr/>
          <p:nvPr/>
        </p:nvSpPr>
        <p:spPr>
          <a:xfrm>
            <a:off x="6583680" y="4727448"/>
            <a:ext cx="4892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“One platform beats four vendors.”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400800" y="5367528"/>
            <a:ext cx="5239512" cy="877824"/>
          </a:xfrm>
          <a:prstGeom prst="roundRect">
            <a:avLst>
              <a:gd name="adj" fmla="val 7292"/>
            </a:avLst>
          </a:prstGeom>
          <a:solidFill>
            <a:srgbClr val="E4F5F1"/>
          </a:solidFill>
          <a:ln/>
        </p:spPr>
      </p:sp>
      <p:sp>
        <p:nvSpPr>
          <p:cNvPr id="40" name="Text 38"/>
          <p:cNvSpPr/>
          <p:nvPr/>
        </p:nvSpPr>
        <p:spPr>
          <a:xfrm>
            <a:off x="6583680" y="5404104"/>
            <a:ext cx="4892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Perceptyx IS five acquisitions renamed and re-platformed in Sept 2025. A platform with no role, hiring, or validated-assessment layer is one layer sold as four.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57200" y="65105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Mabry.Ai Signal Intelligence · run 2026-08-07 · cached/indexed sources — verify verbatim quotes before client use · INTERNAL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77640" cy="6858000"/>
          </a:xfrm>
          <a:prstGeom prst="rect">
            <a:avLst/>
          </a:prstGeom>
          <a:solidFill>
            <a:srgbClr val="141B2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457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B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BATTLECARD · THREAT #3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11480" y="7772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Qualtrics + Press Ganey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1691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2026-05-18 · $6.75B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20574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B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— DecisionWise leads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11480" y="26060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9D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 Run alongside now; displace in the 2027 renewal window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1480" y="3337560"/>
            <a:ext cx="3246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$6.75B deal closed May 18, 2026 through financing turmoil</a:t>
            </a:r>
            <a:endParaRPr lang="en-US" sz="100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out 2 weeks after announcing; 5 execs purged Apr 2026</a:t>
            </a:r>
            <a:endParaRPr lang="en-US" sz="100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JPMorgan halted the $5.3B debt package Mar 2026 (AI-disruption doubts)</a:t>
            </a:r>
            <a:endParaRPr lang="en-US" sz="100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overlapping EX platforms + InMoment (Forrester: ~2-yr sunset)</a:t>
            </a:r>
            <a:endParaRPr lang="en-US" sz="100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Vendr median ~$30K/yr; 5%+ escalators; 55% repricing case on record</a:t>
            </a:r>
            <a:endParaRPr lang="en-US" sz="100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 CEO’s own words: integration takes 2–3 years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343400" y="41148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two-minute read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343400" y="960120"/>
            <a:ext cx="75438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#1 strategic threat in healthcare — and the best-evidenced distraction window of the run</a:t>
            </a:r>
            <a:endParaRPr lang="en-US" sz="115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of their EX platforms were rival Forrester Leaders in the same Wave; one dies</a:t>
            </a:r>
            <a:endParaRPr lang="en-US" sz="115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markets refused the deal’s debt over the exact AI thesis they pitch</a:t>
            </a:r>
            <a:endParaRPr lang="en-US" sz="115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Role, Person, or Fit product anywhere in four portfolios at $19B deployed</a:t>
            </a:r>
            <a:endParaRPr lang="en-US" sz="115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Non-healthcare presence SHRINKS post-merger — Forsta/InMoment carried it, and that’s the sunset layer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43400" y="4160520"/>
            <a:ext cx="3703320" cy="2148840"/>
          </a:xfrm>
          <a:prstGeom prst="roundRect">
            <a:avLst>
              <a:gd name="adj" fmla="val 3830"/>
            </a:avLst>
          </a:prstGeom>
          <a:solidFill>
            <a:srgbClr val="FBEAE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43159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THEY WIN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0" y="4645152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5A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systems where Magnet / HCAHPS / NDNQI lock-in rules</a:t>
            </a:r>
            <a:endParaRPr lang="en-US" sz="98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5A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consolidation mandates (“one experience vendor”)</a:t>
            </a:r>
            <a:endParaRPr lang="en-US" sz="98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5A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F500 CX-led accounts where EX rides the CX contract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8211312" y="4160520"/>
            <a:ext cx="3703320" cy="2148840"/>
          </a:xfrm>
          <a:prstGeom prst="roundRect">
            <a:avLst>
              <a:gd name="adj" fmla="val 3830"/>
            </a:avLst>
          </a:prstGeom>
          <a:solidFill>
            <a:srgbClr val="E4F5F1"/>
          </a:solidFill>
          <a:ln/>
        </p:spPr>
      </p:sp>
      <p:sp>
        <p:nvSpPr>
          <p:cNvPr id="15" name="Text 13"/>
          <p:cNvSpPr/>
          <p:nvPr/>
        </p:nvSpPr>
        <p:spPr>
          <a:xfrm>
            <a:off x="8439912" y="43159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FB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BEAT THEM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439912" y="4645152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“Which of their three survey platforms will you be on in 2028 — and who decides?”</a:t>
            </a:r>
            <a:endParaRPr lang="en-US" sz="98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Healthcare: sell Role/Person/Fit + 360 craft alongside PG listening — additive budget</a:t>
            </a:r>
            <a:endParaRPr lang="en-US" sz="98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Non-healthcare: the Forsta/InMoment sunset is the RFP trigger (Forrester said start now)</a:t>
            </a:r>
            <a:endParaRPr lang="en-US" sz="98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runs now → mid-2028; peak confusion through 2027 renewals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4343400" y="651052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Mabry.Ai Signal Intelligence · run 2026-08-07 · cached/indexed sources — verify verbatim quotes before client use · INTERNAL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Qualtrics + Press Ganey — positioning &amp; narrative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87782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criteria they install, the criteria they avoid, and the lines they hand us.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4892040"/>
          </a:xfrm>
          <a:prstGeom prst="roundRect">
            <a:avLst>
              <a:gd name="adj" fmla="val 1869"/>
            </a:avLst>
          </a:prstGeom>
          <a:solidFill>
            <a:srgbClr val="F2F5FB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00200"/>
            <a:ext cx="1046988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story: “PX + EX + CX in one company” + “the world’s largest AI dataset for human experience.” Press Ganey becomes the healthcare division keeping its trusted brand.</a:t>
            </a:r>
            <a:endParaRPr lang="en-US" sz="1150" dirty="0"/>
          </a:p>
          <a:p>
            <a:pPr marL="101600" indent="-1016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credit-market counter-narrative is public record: leveraged-loan investors refused the deal’s debt specifically over AI-disruption risk to survey vendors — Wall Street priced skepticism into the exact thesis they pitch. Quotable, sourced, devastating in the right room.</a:t>
            </a:r>
            <a:endParaRPr lang="en-US" sz="1150" dirty="0"/>
          </a:p>
          <a:p>
            <a:pPr marL="101600" indent="-1016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is the sideline: X4 2026 was headlined by CX (their own newsroom title); the new CEO is a finance operator with an AI + CX-monetization mandate; the deal rationale is patient/consumer data.</a:t>
            </a:r>
            <a:endParaRPr lang="en-US" sz="1150" dirty="0"/>
          </a:p>
          <a:p>
            <a:pPr marL="101600" indent="-1016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 they install: consolidation, dataset scale, healthcare regulatory lock-in (Magnet/NDNQI/CAHPS), enterprise pedigree.</a:t>
            </a:r>
            <a:endParaRPr lang="en-US" sz="1150" dirty="0"/>
          </a:p>
          <a:p>
            <a:pPr marL="101600" indent="-1016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 they avoid: integration timeline specifics, platform-survival commitments, per-layer depth, mid-market service model, renewal-escalator caps.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Mabry.Ai Signal Intelligence · run 2026-08-07 · cached/indexed sources — verify verbatim quotes before client use · INTERNAL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Qualtrics + Press Ganey — feature matrix vs. the stack</a:t>
            </a:r>
            <a:endParaRPr lang="en-US" sz="25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11091672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4663440"/>
                <a:gridCol w="409651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Qualtrics + Press Ganey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TMA Performance stack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EX surveys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Forrester Wave Leader ×2 — which is the problem: Qualtrics EX and Forsta EX were RIVAL Leaders; one dies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745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DecisionWise — “which platform will you be on in 2028?”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Healthcare workforce benchmarks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fortress: Nursing Excellence (Magnet-aligned, ~500K RN benchmark, NDNQI unified), clinician instruments, safety/PSO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745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 attack Magnet/HCAHPS — flank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360 / leadership dev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Survey-engine 360: “requires extensive training… expensive whenever you need changes” (ITQlick); no debrief services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745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DecisionWise certified debriefs — entry wedge #1, different buying center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 architecture / pay equity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Nothing in any of the four portfolios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745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STYR — uncontested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Assessments / hiring science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Nothing — candidate-experience surveys only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745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TMA + BrainsFirst — uncontested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Experience Agents real but CX-headlined; “largest dataset” = overwhelmingly patient/CX/panel data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745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 size ≠ decision relevance about THIS manager, role, candidate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Mid-market service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DNA; documented mid-size price walk-away; April reorg hit customer ops; support tiered-and-queued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745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Consultative model native at 500–20K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Non-healthcare verticals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Forsta/InMoment carried FS/retail — the sunset layer; merger REDUCES dedicated non-healthcare presence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745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Counter-intuitive and true — use it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5105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Mabry.Ai Signal Intelligence · run 2026-08-07 · cached/indexed sources — verify verbatim quotes before client use · INTERNAL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Qualtrics + Press Ganey — exploitable gaps (full ranked list)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87782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first, then the move. Confidence tags in the battlecard.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5486400" cy="1572768"/>
          </a:xfrm>
          <a:prstGeom prst="roundRect">
            <a:avLst>
              <a:gd name="adj" fmla="val 5233"/>
            </a:avLst>
          </a:prstGeom>
          <a:solidFill>
            <a:srgbClr val="F2F5FB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444752"/>
            <a:ext cx="310896" cy="310896"/>
          </a:xfrm>
          <a:prstGeom prst="ellipse">
            <a:avLst/>
          </a:prstGeom>
          <a:solidFill>
            <a:srgbClr val="2FB7A4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444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33856" y="1408176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knows which platform survives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68096" y="1828800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overlapping EX platforms + InMoment; Forrester sunset call + RFP advice; “whether they integrate remains to be seen.”</a:t>
            </a:r>
            <a:endParaRPr lang="en-US" sz="860" dirty="0"/>
          </a:p>
        </p:txBody>
      </p:sp>
      <p:sp>
        <p:nvSpPr>
          <p:cNvPr id="9" name="Text 7"/>
          <p:cNvSpPr/>
          <p:nvPr/>
        </p:nvSpPr>
        <p:spPr>
          <a:xfrm>
            <a:off x="768096" y="2414016"/>
            <a:ext cx="5074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i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“Which platform in 2028, who decides, and who pays for the migration?” No good answer exists yet.</a:t>
            </a:r>
            <a:endParaRPr lang="en-US" sz="860" dirty="0"/>
          </a:p>
        </p:txBody>
      </p:sp>
      <p:sp>
        <p:nvSpPr>
          <p:cNvPr id="10" name="Shape 8"/>
          <p:cNvSpPr/>
          <p:nvPr/>
        </p:nvSpPr>
        <p:spPr>
          <a:xfrm>
            <a:off x="6263640" y="1298448"/>
            <a:ext cx="5486400" cy="1572768"/>
          </a:xfrm>
          <a:prstGeom prst="roundRect">
            <a:avLst>
              <a:gd name="adj" fmla="val 5233"/>
            </a:avLst>
          </a:prstGeom>
          <a:solidFill>
            <a:srgbClr val="F2F5FB"/>
          </a:solidFill>
          <a:ln/>
        </p:spPr>
      </p:sp>
      <p:sp>
        <p:nvSpPr>
          <p:cNvPr id="11" name="Shape 9"/>
          <p:cNvSpPr/>
          <p:nvPr/>
        </p:nvSpPr>
        <p:spPr>
          <a:xfrm>
            <a:off x="6428232" y="1444752"/>
            <a:ext cx="310896" cy="310896"/>
          </a:xfrm>
          <a:prstGeom prst="ellipse">
            <a:avLst/>
          </a:prstGeom>
          <a:solidFill>
            <a:srgbClr val="2FB7A4"/>
          </a:solidFill>
          <a:ln/>
        </p:spPr>
      </p:sp>
      <p:sp>
        <p:nvSpPr>
          <p:cNvPr id="12" name="Text 10"/>
          <p:cNvSpPr/>
          <p:nvPr/>
        </p:nvSpPr>
        <p:spPr>
          <a:xfrm>
            <a:off x="6428232" y="1444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48856" y="1408176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pressure meets an escalator habit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83096" y="1828800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Hung $5.3B syndication, &gt;$500M paper losses, loan at 86¢; pre-existing 5%+ uplifts and a documented 55% repricing case.</a:t>
            </a:r>
            <a:endParaRPr lang="en-US" sz="860" dirty="0"/>
          </a:p>
        </p:txBody>
      </p:sp>
      <p:sp>
        <p:nvSpPr>
          <p:cNvPr id="15" name="Text 13"/>
          <p:cNvSpPr/>
          <p:nvPr/>
        </p:nvSpPr>
        <p:spPr>
          <a:xfrm>
            <a:off x="6483096" y="2414016"/>
            <a:ext cx="5074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i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armor: escalator caps, auto-renew removal, multi-year protection. Teaching this buys the champion.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548640" y="2999232"/>
            <a:ext cx="5486400" cy="1572768"/>
          </a:xfrm>
          <a:prstGeom prst="roundRect">
            <a:avLst>
              <a:gd name="adj" fmla="val 5233"/>
            </a:avLst>
          </a:prstGeom>
          <a:solidFill>
            <a:srgbClr val="F2F5FB"/>
          </a:solidFill>
          <a:ln/>
        </p:spPr>
      </p:sp>
      <p:sp>
        <p:nvSpPr>
          <p:cNvPr id="17" name="Shape 15"/>
          <p:cNvSpPr/>
          <p:nvPr/>
        </p:nvSpPr>
        <p:spPr>
          <a:xfrm>
            <a:off x="713232" y="3145536"/>
            <a:ext cx="310896" cy="310896"/>
          </a:xfrm>
          <a:prstGeom prst="ellipse">
            <a:avLst/>
          </a:prstGeom>
          <a:solidFill>
            <a:srgbClr val="2FB7A4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33856" y="310896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of four layers missing at $19B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68096" y="3529584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role, person, or fit product across Qualtrics, PG, Forsta, InMoment.</a:t>
            </a:r>
            <a:endParaRPr lang="en-US" sz="860" dirty="0"/>
          </a:p>
        </p:txBody>
      </p:sp>
      <p:sp>
        <p:nvSpPr>
          <p:cNvPr id="21" name="Text 19"/>
          <p:cNvSpPr/>
          <p:nvPr/>
        </p:nvSpPr>
        <p:spPr>
          <a:xfrm>
            <a:off x="768096" y="4114800"/>
            <a:ext cx="5074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i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biggest experience company in the world can’t tell you if the role is broken, the person misplaced, or the hire wrong.”</a:t>
            </a:r>
            <a:endParaRPr lang="en-US" sz="860" dirty="0"/>
          </a:p>
        </p:txBody>
      </p:sp>
      <p:sp>
        <p:nvSpPr>
          <p:cNvPr id="22" name="Shape 20"/>
          <p:cNvSpPr/>
          <p:nvPr/>
        </p:nvSpPr>
        <p:spPr>
          <a:xfrm>
            <a:off x="6263640" y="2999232"/>
            <a:ext cx="5486400" cy="1572768"/>
          </a:xfrm>
          <a:prstGeom prst="roundRect">
            <a:avLst>
              <a:gd name="adj" fmla="val 5233"/>
            </a:avLst>
          </a:prstGeom>
          <a:solidFill>
            <a:srgbClr val="F2F5FB"/>
          </a:solidFill>
          <a:ln/>
        </p:spPr>
      </p:sp>
      <p:sp>
        <p:nvSpPr>
          <p:cNvPr id="23" name="Shape 21"/>
          <p:cNvSpPr/>
          <p:nvPr/>
        </p:nvSpPr>
        <p:spPr>
          <a:xfrm>
            <a:off x="6428232" y="3145536"/>
            <a:ext cx="310896" cy="310896"/>
          </a:xfrm>
          <a:prstGeom prst="ellipse">
            <a:avLst/>
          </a:prstGeom>
          <a:solidFill>
            <a:srgbClr val="2FB7A4"/>
          </a:solidFill>
          <a:ln/>
        </p:spPr>
      </p:sp>
      <p:sp>
        <p:nvSpPr>
          <p:cNvPr id="24" name="Text 22"/>
          <p:cNvSpPr/>
          <p:nvPr/>
        </p:nvSpPr>
        <p:spPr>
          <a:xfrm>
            <a:off x="642823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48856" y="310896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 is software, not craft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483096" y="3529584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“Requires extensive training… manual configuration… expensive whenever you need changes” (ITQlick); no debrief bench, no certified facilitators.</a:t>
            </a:r>
            <a:endParaRPr lang="en-US" sz="860" dirty="0"/>
          </a:p>
        </p:txBody>
      </p:sp>
      <p:sp>
        <p:nvSpPr>
          <p:cNvPr id="27" name="Text 25"/>
          <p:cNvSpPr/>
          <p:nvPr/>
        </p:nvSpPr>
        <p:spPr>
          <a:xfrm>
            <a:off x="6483096" y="4114800"/>
            <a:ext cx="5074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i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wedge #1 — different buying center (L&amp;D / CNO development budgets), zero contract collision.</a:t>
            </a:r>
            <a:endParaRPr lang="en-US" sz="860" dirty="0"/>
          </a:p>
        </p:txBody>
      </p:sp>
      <p:sp>
        <p:nvSpPr>
          <p:cNvPr id="28" name="Shape 26"/>
          <p:cNvSpPr/>
          <p:nvPr/>
        </p:nvSpPr>
        <p:spPr>
          <a:xfrm>
            <a:off x="548640" y="4700016"/>
            <a:ext cx="5486400" cy="1572768"/>
          </a:xfrm>
          <a:prstGeom prst="roundRect">
            <a:avLst>
              <a:gd name="adj" fmla="val 5233"/>
            </a:avLst>
          </a:prstGeom>
          <a:solidFill>
            <a:srgbClr val="F2F5FB"/>
          </a:solidFill>
          <a:ln/>
        </p:spPr>
      </p:sp>
      <p:sp>
        <p:nvSpPr>
          <p:cNvPr id="29" name="Shape 27"/>
          <p:cNvSpPr/>
          <p:nvPr/>
        </p:nvSpPr>
        <p:spPr>
          <a:xfrm>
            <a:off x="713232" y="4846320"/>
            <a:ext cx="310896" cy="310896"/>
          </a:xfrm>
          <a:prstGeom prst="ellipse">
            <a:avLst/>
          </a:prstGeom>
          <a:solidFill>
            <a:srgbClr val="2FB7A4"/>
          </a:solidFill>
          <a:ln/>
        </p:spPr>
      </p:sp>
      <p:sp>
        <p:nvSpPr>
          <p:cNvPr id="30" name="Text 28"/>
          <p:cNvSpPr/>
          <p:nvPr/>
        </p:nvSpPr>
        <p:spPr>
          <a:xfrm>
            <a:off x="713232" y="4846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33856" y="4809744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Mid-market abandonment risk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68096" y="5230368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DNA, reorged customer ops, integration priorities; documented mid-size price walk-aways pre-merger.</a:t>
            </a:r>
            <a:endParaRPr lang="en-US" sz="860" dirty="0"/>
          </a:p>
        </p:txBody>
      </p:sp>
      <p:sp>
        <p:nvSpPr>
          <p:cNvPr id="33" name="Text 31"/>
          <p:cNvSpPr/>
          <p:nvPr/>
        </p:nvSpPr>
        <p:spPr>
          <a:xfrm>
            <a:off x="768096" y="5815584"/>
            <a:ext cx="5074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i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TMA’s band is nobody’s priority account inside a $6.75B-debt integration — a 2K-employee credit union answers itself.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6263640" y="4700016"/>
            <a:ext cx="5486400" cy="1572768"/>
          </a:xfrm>
          <a:prstGeom prst="roundRect">
            <a:avLst>
              <a:gd name="adj" fmla="val 5233"/>
            </a:avLst>
          </a:prstGeom>
          <a:solidFill>
            <a:srgbClr val="F2F5FB"/>
          </a:solidFill>
          <a:ln/>
        </p:spPr>
      </p:sp>
      <p:sp>
        <p:nvSpPr>
          <p:cNvPr id="35" name="Shape 33"/>
          <p:cNvSpPr/>
          <p:nvPr/>
        </p:nvSpPr>
        <p:spPr>
          <a:xfrm>
            <a:off x="6428232" y="4846320"/>
            <a:ext cx="310896" cy="310896"/>
          </a:xfrm>
          <a:prstGeom prst="ellipse">
            <a:avLst/>
          </a:prstGeom>
          <a:solidFill>
            <a:srgbClr val="2FB7A4"/>
          </a:solidFill>
          <a:ln/>
        </p:spPr>
      </p:sp>
      <p:sp>
        <p:nvSpPr>
          <p:cNvPr id="36" name="Text 34"/>
          <p:cNvSpPr/>
          <p:nvPr/>
        </p:nvSpPr>
        <p:spPr>
          <a:xfrm>
            <a:off x="6428232" y="4846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848856" y="4809744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+ complexity themes (5–6 sources each)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483096" y="5230368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Steep learning curve/admin burden; opaque pricing/add-on creep ($5K → $20K+ once add-ons billed); tiered-but-queued support; PE-driven instability at both companies.</a:t>
            </a:r>
            <a:endParaRPr lang="en-US" sz="860" dirty="0"/>
          </a:p>
        </p:txBody>
      </p:sp>
      <p:sp>
        <p:nvSpPr>
          <p:cNvPr id="39" name="Text 37"/>
          <p:cNvSpPr/>
          <p:nvPr/>
        </p:nvSpPr>
        <p:spPr>
          <a:xfrm>
            <a:off x="6483096" y="5815584"/>
            <a:ext cx="5074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i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support SLAs, named-team continuity, and escalator caps in writing — they strain on all three right now.</a:t>
            </a:r>
            <a:endParaRPr lang="en-US" sz="860" dirty="0"/>
          </a:p>
        </p:txBody>
      </p:sp>
      <p:sp>
        <p:nvSpPr>
          <p:cNvPr id="40" name="Text 38"/>
          <p:cNvSpPr/>
          <p:nvPr/>
        </p:nvSpPr>
        <p:spPr>
          <a:xfrm>
            <a:off x="457200" y="65105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Mabry.Ai Signal Intelligence · run 2026-08-07 · cached/indexed sources — verify verbatim quotes before client use · INTERNAL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Qualtrics + Press Ganey — pricing, complaints, ex-employee signals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3611880" cy="5029200"/>
          </a:xfrm>
          <a:prstGeom prst="roundRect">
            <a:avLst>
              <a:gd name="adj" fmla="val 2532"/>
            </a:avLst>
          </a:prstGeom>
          <a:solidFill>
            <a:srgbClr val="F2F5FB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1325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signals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49808" y="1755648"/>
            <a:ext cx="32461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Qualtrics: Vendr median ~$30K/yr (software only); range $6.9K–$140K+; ~11.3% average negotiated savings; levers = multi-year, Q-end, credible alternative, escalator caps, auto-renew removal</a:t>
            </a:r>
            <a:endParaRPr lang="en-US" sz="92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Ganey: NO public pricing exists — any specific dollar claim would be fabrication; lock-in is regulatory (CAHPS) + benchmark dependence</a:t>
            </a:r>
            <a:endParaRPr lang="en-US" sz="92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Post-merger harmonization risk: no customer chatter yet (11 weeks post-close) — the structural argument (debt + escalator habit) is the honest version</a:t>
            </a:r>
            <a:endParaRPr lang="en-US" sz="92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bundle-fight. Layer-scoped entry = new budget, no rip-out, no migration bet; the stack’s layers are ADDITIVE spend with separate owners</a:t>
            </a:r>
            <a:endParaRPr lang="en-US" sz="920" dirty="0"/>
          </a:p>
        </p:txBody>
      </p:sp>
      <p:sp>
        <p:nvSpPr>
          <p:cNvPr id="6" name="Shape 4"/>
          <p:cNvSpPr/>
          <p:nvPr/>
        </p:nvSpPr>
        <p:spPr>
          <a:xfrm>
            <a:off x="4343400" y="1143000"/>
            <a:ext cx="3611880" cy="5029200"/>
          </a:xfrm>
          <a:prstGeom prst="roundRect">
            <a:avLst>
              <a:gd name="adj" fmla="val 2532"/>
            </a:avLst>
          </a:prstGeom>
          <a:solidFill>
            <a:srgbClr val="F2F5FB"/>
          </a:solidFill>
          <a:ln/>
        </p:spPr>
      </p:sp>
      <p:sp>
        <p:nvSpPr>
          <p:cNvPr id="7" name="Text 5"/>
          <p:cNvSpPr/>
          <p:nvPr/>
        </p:nvSpPr>
        <p:spPr>
          <a:xfrm>
            <a:off x="4544568" y="1325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complaints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44568" y="1755648"/>
            <a:ext cx="32461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Complexity/learning curve/admin burden (5+ sources) — “how long it can take to create even the most basic survey”</a:t>
            </a:r>
            <a:endParaRPr lang="en-US" sz="92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Opaque pricing + add-on creep (6 sources) — “new features always cost extra… always upselling”</a:t>
            </a:r>
            <a:endParaRPr lang="en-US" sz="92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 escalation (3+) — 5%+ standard; 55% repricing case documented ($35.5K→$55K, negotiated to $47K)</a:t>
            </a:r>
            <a:endParaRPr lang="en-US" sz="92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unresponsiveness despite paid tiers (4 sources incl. their own community: “How do you get actual support?”)</a:t>
            </a:r>
            <a:endParaRPr lang="en-US" sz="92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use: “need a PhD” as a customer quote (competitor copy); any PG dollar figure; the Feb 2025 layoff (Blind-only)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8138160" y="1143000"/>
            <a:ext cx="3611880" cy="5029200"/>
          </a:xfrm>
          <a:prstGeom prst="roundRect">
            <a:avLst>
              <a:gd name="adj" fmla="val 2532"/>
            </a:avLst>
          </a:prstGeom>
          <a:solidFill>
            <a:srgbClr val="F2F5FB"/>
          </a:solidFill>
          <a:ln/>
        </p:spPr>
      </p:sp>
      <p:sp>
        <p:nvSpPr>
          <p:cNvPr id="10" name="Text 8"/>
          <p:cNvSpPr/>
          <p:nvPr/>
        </p:nvSpPr>
        <p:spPr>
          <a:xfrm>
            <a:off x="8339328" y="1325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Ex-employee signals (public only)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339328" y="1755648"/>
            <a:ext cx="32461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Qualtrics (Glassdoor ~2,628): “Silver Lake destroyed this company… cut too many people with historical knowledge”; sales culture “top-down pressure for strong forecast calls when pipeline truly does not exist”</a:t>
            </a:r>
            <a:endParaRPr lang="en-US" sz="92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Ganey (~809, 3.3): “quarterly layoffs and intimidation tactics”; acquisition anxiety on record: “most people are scared of losing their jobs once the acquisition is complete”</a:t>
            </a:r>
            <a:endParaRPr lang="en-US" sz="92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(marked): forecast-pressure culture = quarter-end discounting leverage; both account teams face 12–24 months of reshuffling — continuity clauses and “who’s my named team” land hard. Service-risk framing only, never culture-shaming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457200" y="65105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Mabry.Ai Signal Intelligence · run 2026-08-07 · cached/indexed sources — verify verbatim quotes before client use · INTERNAL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Qualtrics + Press Ganey — run-alongside plan &amp; MEDDPICC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440680" cy="5029200"/>
          </a:xfrm>
          <a:prstGeom prst="roundRect">
            <a:avLst>
              <a:gd name="adj" fmla="val 1818"/>
            </a:avLst>
          </a:prstGeom>
          <a:solidFill>
            <a:srgbClr val="E4F5F1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32588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FB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RUN-ALONGSIDE / ENTRY WEDGES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77240" y="1737360"/>
            <a:ext cx="502920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(their fortress): sell Role/Person/Fit + DecisionWise 360/leadership craft ALONGSIDE PG listening — buying centers (Total Rewards, TA, L&amp;D, CNO budgets) never touch the PG contract</a:t>
            </a:r>
            <a:endParaRPr lang="en-US" sz="1000" dirty="0"/>
          </a:p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Non-healthcare enterprise: the Forsta/InMoment sunset is the wedge — “Forrester told InMoment clients to start RFPs; what’s your plan?” Position DecisionWise as the rationalization answer or the hedge</a:t>
            </a:r>
            <a:endParaRPr lang="en-US" sz="1000" dirty="0"/>
          </a:p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Mid-market (500–5K) everywhere: they were losing these accounts on price BEFORE the merger added integration debt — full-stack entry at TMA’s natural band</a:t>
            </a:r>
            <a:endParaRPr lang="en-US" sz="1000" dirty="0"/>
          </a:p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window runs now → mid-2028 (their stated horizon); peak confusion through 2027 renewal season while rationalization is unannounced. Every quarter of their silence is uncertainty you can sell against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199632" y="1143000"/>
            <a:ext cx="5440680" cy="5029200"/>
          </a:xfrm>
          <a:prstGeom prst="roundRect">
            <a:avLst>
              <a:gd name="adj" fmla="val 1818"/>
            </a:avLst>
          </a:prstGeom>
          <a:solidFill>
            <a:srgbClr val="F2F5FB"/>
          </a:solidFill>
          <a:ln/>
        </p:spPr>
      </p:sp>
      <p:sp>
        <p:nvSpPr>
          <p:cNvPr id="7" name="Text 5"/>
          <p:cNvSpPr/>
          <p:nvPr/>
        </p:nvSpPr>
        <p:spPr>
          <a:xfrm>
            <a:off x="6428232" y="132588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MEDDPICC ANGLES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28232" y="1737360"/>
            <a:ext cx="502920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validated 360 + debrief outcomes · platform-migration cost avoidance (THEIRS, not yours) · time-to-value per layer vs a 2–3-year integration horizon · approved anchors (50M+ datapoints, 91% participation, Atos, TOPdesk)</a:t>
            </a:r>
            <a:endParaRPr lang="en-US" sz="92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criteria to install: platform-survival commitments in writing · escalator caps + auto-renew removal · per-layer depth with validated instruments · named account-team continuity · references on the SPECIFIC platform being sold · integration-roadmap disclosure with dates</a:t>
            </a:r>
            <a:endParaRPr lang="en-US" sz="92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unsolved: everything below the survey + mid-market attention + certainty of any kind through 2028</a:t>
            </a:r>
            <a:endParaRPr lang="en-US" sz="92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process: quote-only complexity, add-on billing, assignment/entity questions mid-integration, hung-debt optics in board review — your leverage is price protection they can’t match mid-integration; time to their quarter-end</a:t>
            </a:r>
            <a:endParaRPr lang="en-US" sz="92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Champion: in healthcare the PG relationship owner is NOT your buyer — build in the CNO’s development budget, Total Rewards, TA. Elsewhere, arm the CHRO with the platform-rationalization question against the CIO consolidation instinct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Mabry.Ai Signal Intelligence · run 2026-08-07 · cached/indexed sources — verify verbatim quotes before client use · INTERNAL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Qualtrics + Press Ganey — landmines &amp; counter-FUD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landmines — never name the competitor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486400" cy="749808"/>
          </a:xfrm>
          <a:prstGeom prst="roundRect">
            <a:avLst>
              <a:gd name="adj" fmla="val 8537"/>
            </a:avLst>
          </a:prstGeom>
          <a:solidFill>
            <a:srgbClr val="F2F5FB"/>
          </a:solidFill>
          <a:ln/>
        </p:spPr>
      </p:sp>
      <p:sp>
        <p:nvSpPr>
          <p:cNvPr id="5" name="Shape 3"/>
          <p:cNvSpPr/>
          <p:nvPr/>
        </p:nvSpPr>
        <p:spPr>
          <a:xfrm>
            <a:off x="694944" y="1563624"/>
            <a:ext cx="274320" cy="274320"/>
          </a:xfrm>
          <a:prstGeom prst="ellipse">
            <a:avLst/>
          </a:prstGeom>
          <a:solidFill>
            <a:srgbClr val="141B2E"/>
          </a:solidFill>
          <a:ln/>
        </p:spPr>
      </p:sp>
      <p:sp>
        <p:nvSpPr>
          <p:cNvPr id="6" name="Text 4"/>
          <p:cNvSpPr/>
          <p:nvPr/>
        </p:nvSpPr>
        <p:spPr>
          <a:xfrm>
            <a:off x="694944" y="15636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078992" y="1371600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“Your vendor now owns three employee-survey platforms — which will you be on in 2028, and who pays for the migration?”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548640" y="2167128"/>
            <a:ext cx="5486400" cy="749808"/>
          </a:xfrm>
          <a:prstGeom prst="roundRect">
            <a:avLst>
              <a:gd name="adj" fmla="val 8537"/>
            </a:avLst>
          </a:prstGeom>
          <a:solidFill>
            <a:srgbClr val="F2F5FB"/>
          </a:solidFill>
          <a:ln/>
        </p:spPr>
      </p:sp>
      <p:sp>
        <p:nvSpPr>
          <p:cNvPr id="9" name="Shape 7"/>
          <p:cNvSpPr/>
          <p:nvPr/>
        </p:nvSpPr>
        <p:spPr>
          <a:xfrm>
            <a:off x="694944" y="2404872"/>
            <a:ext cx="274320" cy="274320"/>
          </a:xfrm>
          <a:prstGeom prst="ellipse">
            <a:avLst/>
          </a:prstGeom>
          <a:solidFill>
            <a:srgbClr val="141B2E"/>
          </a:solidFill>
          <a:ln/>
        </p:spPr>
      </p:sp>
      <p:sp>
        <p:nvSpPr>
          <p:cNvPr id="10" name="Text 8"/>
          <p:cNvSpPr/>
          <p:nvPr/>
        </p:nvSpPr>
        <p:spPr>
          <a:xfrm>
            <a:off x="694944" y="2404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78992" y="2212848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happens to your Forsta or InMoment contract at renewal — have you seen the analyst guidance?”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548640" y="3008376"/>
            <a:ext cx="5486400" cy="749808"/>
          </a:xfrm>
          <a:prstGeom prst="roundRect">
            <a:avLst>
              <a:gd name="adj" fmla="val 8537"/>
            </a:avLst>
          </a:prstGeom>
          <a:solidFill>
            <a:srgbClr val="F2F5FB"/>
          </a:solidFill>
          <a:ln/>
        </p:spPr>
      </p:sp>
      <p:sp>
        <p:nvSpPr>
          <p:cNvPr id="13" name="Shape 11"/>
          <p:cNvSpPr/>
          <p:nvPr/>
        </p:nvSpPr>
        <p:spPr>
          <a:xfrm>
            <a:off x="694944" y="3246120"/>
            <a:ext cx="274320" cy="274320"/>
          </a:xfrm>
          <a:prstGeom prst="ellipse">
            <a:avLst/>
          </a:prstGeom>
          <a:solidFill>
            <a:srgbClr val="141B2E"/>
          </a:solidFill>
          <a:ln/>
        </p:spPr>
      </p:sp>
      <p:sp>
        <p:nvSpPr>
          <p:cNvPr id="14" name="Text 12"/>
          <p:cNvSpPr/>
          <p:nvPr/>
        </p:nvSpPr>
        <p:spPr>
          <a:xfrm>
            <a:off x="694944" y="3246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078992" y="3054096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“Who is your named account team after the April reorg, and what continuity is in the contract?”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548640" y="3849624"/>
            <a:ext cx="5486400" cy="749808"/>
          </a:xfrm>
          <a:prstGeom prst="roundRect">
            <a:avLst>
              <a:gd name="adj" fmla="val 8537"/>
            </a:avLst>
          </a:prstGeom>
          <a:solidFill>
            <a:srgbClr val="F2F5FB"/>
          </a:solidFill>
          <a:ln/>
        </p:spPr>
      </p:sp>
      <p:sp>
        <p:nvSpPr>
          <p:cNvPr id="17" name="Shape 15"/>
          <p:cNvSpPr/>
          <p:nvPr/>
        </p:nvSpPr>
        <p:spPr>
          <a:xfrm>
            <a:off x="694944" y="4087368"/>
            <a:ext cx="274320" cy="274320"/>
          </a:xfrm>
          <a:prstGeom prst="ellipse">
            <a:avLst/>
          </a:prstGeom>
          <a:solidFill>
            <a:srgbClr val="141B2E"/>
          </a:solidFill>
          <a:ln/>
        </p:spPr>
      </p:sp>
      <p:sp>
        <p:nvSpPr>
          <p:cNvPr id="18" name="Text 16"/>
          <p:cNvSpPr/>
          <p:nvPr/>
        </p:nvSpPr>
        <p:spPr>
          <a:xfrm>
            <a:off x="694944" y="40873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078992" y="3895344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annual escalator is in your renewal — and how does $6.75B of debt get serviced if not through it?”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548640" y="4690872"/>
            <a:ext cx="5486400" cy="749808"/>
          </a:xfrm>
          <a:prstGeom prst="roundRect">
            <a:avLst>
              <a:gd name="adj" fmla="val 8537"/>
            </a:avLst>
          </a:prstGeom>
          <a:solidFill>
            <a:srgbClr val="F2F5FB"/>
          </a:solidFill>
          <a:ln/>
        </p:spPr>
      </p:sp>
      <p:sp>
        <p:nvSpPr>
          <p:cNvPr id="21" name="Shape 19"/>
          <p:cNvSpPr/>
          <p:nvPr/>
        </p:nvSpPr>
        <p:spPr>
          <a:xfrm>
            <a:off x="694944" y="4928616"/>
            <a:ext cx="274320" cy="274320"/>
          </a:xfrm>
          <a:prstGeom prst="ellipse">
            <a:avLst/>
          </a:prstGeom>
          <a:solidFill>
            <a:srgbClr val="141B2E"/>
          </a:solidFill>
          <a:ln/>
        </p:spPr>
      </p:sp>
      <p:sp>
        <p:nvSpPr>
          <p:cNvPr id="22" name="Text 20"/>
          <p:cNvSpPr/>
          <p:nvPr/>
        </p:nvSpPr>
        <p:spPr>
          <a:xfrm>
            <a:off x="694944" y="49286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078992" y="4736592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“When their listening data flags a broken team, which of their products fixes the role design, develops the leader, or improves the next hire?”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548640" y="5532120"/>
            <a:ext cx="5486400" cy="749808"/>
          </a:xfrm>
          <a:prstGeom prst="roundRect">
            <a:avLst>
              <a:gd name="adj" fmla="val 8537"/>
            </a:avLst>
          </a:prstGeom>
          <a:solidFill>
            <a:srgbClr val="F2F5FB"/>
          </a:solidFill>
          <a:ln/>
        </p:spPr>
      </p:sp>
      <p:sp>
        <p:nvSpPr>
          <p:cNvPr id="25" name="Shape 23"/>
          <p:cNvSpPr/>
          <p:nvPr/>
        </p:nvSpPr>
        <p:spPr>
          <a:xfrm>
            <a:off x="694944" y="5769864"/>
            <a:ext cx="274320" cy="274320"/>
          </a:xfrm>
          <a:prstGeom prst="ellipse">
            <a:avLst/>
          </a:prstGeom>
          <a:solidFill>
            <a:srgbClr val="141B2E"/>
          </a:solidFill>
          <a:ln/>
        </p:spPr>
      </p:sp>
      <p:sp>
        <p:nvSpPr>
          <p:cNvPr id="26" name="Text 24"/>
          <p:cNvSpPr/>
          <p:nvPr/>
        </p:nvSpPr>
        <p:spPr>
          <a:xfrm>
            <a:off x="694944" y="5769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078992" y="5577840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“For 360s: certified human debriefs against your leadership framework, or a survey engine with AI summaries that “requires extensive training”?”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6400800" y="9326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They’ll say → you say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6400800" y="1325880"/>
            <a:ext cx="5239512" cy="603504"/>
          </a:xfrm>
          <a:prstGeom prst="roundRect">
            <a:avLst>
              <a:gd name="adj" fmla="val 10606"/>
            </a:avLst>
          </a:prstGeom>
          <a:solidFill>
            <a:srgbClr val="FBEAEA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0" y="1362456"/>
            <a:ext cx="4892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consortium of boutiques can’t match our scale.”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400800" y="2002536"/>
            <a:ext cx="5239512" cy="877824"/>
          </a:xfrm>
          <a:prstGeom prst="roundRect">
            <a:avLst>
              <a:gd name="adj" fmla="val 7292"/>
            </a:avLst>
          </a:prstGeom>
          <a:solidFill>
            <a:srgbClr val="E4F5F1"/>
          </a:solidFill>
          <a:ln/>
        </p:spPr>
      </p:sp>
      <p:sp>
        <p:nvSpPr>
          <p:cNvPr id="32" name="Text 30"/>
          <p:cNvSpPr/>
          <p:nvPr/>
        </p:nvSpPr>
        <p:spPr>
          <a:xfrm>
            <a:off x="6583680" y="2039112"/>
            <a:ext cx="4892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in one layer, triplicated — and zero product in three others. You buy one specialist layer at a time, not a 2–3-year integration bet.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400800" y="3008376"/>
            <a:ext cx="5239512" cy="603504"/>
          </a:xfrm>
          <a:prstGeom prst="roundRect">
            <a:avLst>
              <a:gd name="adj" fmla="val 10606"/>
            </a:avLst>
          </a:prstGeom>
          <a:solidFill>
            <a:srgbClr val="FBEAEA"/>
          </a:solidFill>
          <a:ln/>
        </p:spPr>
      </p:sp>
      <p:sp>
        <p:nvSpPr>
          <p:cNvPr id="34" name="Text 32"/>
          <p:cNvSpPr/>
          <p:nvPr/>
        </p:nvSpPr>
        <p:spPr>
          <a:xfrm>
            <a:off x="6583680" y="3044952"/>
            <a:ext cx="4892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world’s largest AI dataset for human experience.”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400800" y="3685032"/>
            <a:ext cx="5239512" cy="877824"/>
          </a:xfrm>
          <a:prstGeom prst="roundRect">
            <a:avLst>
              <a:gd name="adj" fmla="val 7292"/>
            </a:avLst>
          </a:prstGeom>
          <a:solidFill>
            <a:srgbClr val="E4F5F1"/>
          </a:solidFill>
          <a:ln/>
        </p:spPr>
      </p:sp>
      <p:sp>
        <p:nvSpPr>
          <p:cNvPr id="36" name="Text 34"/>
          <p:cNvSpPr/>
          <p:nvPr/>
        </p:nvSpPr>
        <p:spPr>
          <a:xfrm>
            <a:off x="6583680" y="3721608"/>
            <a:ext cx="4892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patient/CX/panel data — none of it decides about this manager, this role, this candidate. Eleven banks refused this deal’s debt over that exact thesis.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400800" y="4690872"/>
            <a:ext cx="5239512" cy="603504"/>
          </a:xfrm>
          <a:prstGeom prst="roundRect">
            <a:avLst>
              <a:gd name="adj" fmla="val 10606"/>
            </a:avLst>
          </a:prstGeom>
          <a:solidFill>
            <a:srgbClr val="FBEAEA"/>
          </a:solidFill>
          <a:ln/>
        </p:spPr>
      </p:sp>
      <p:sp>
        <p:nvSpPr>
          <p:cNvPr id="38" name="Text 36"/>
          <p:cNvSpPr/>
          <p:nvPr/>
        </p:nvSpPr>
        <p:spPr>
          <a:xfrm>
            <a:off x="6583680" y="4727448"/>
            <a:ext cx="4892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“We’ll bundle workforce into your PG renewal cheaply.”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400800" y="5367528"/>
            <a:ext cx="5239512" cy="877824"/>
          </a:xfrm>
          <a:prstGeom prst="roundRect">
            <a:avLst>
              <a:gd name="adj" fmla="val 7292"/>
            </a:avLst>
          </a:prstGeom>
          <a:solidFill>
            <a:srgbClr val="E4F5F1"/>
          </a:solidFill>
          <a:ln/>
        </p:spPr>
      </p:sp>
      <p:sp>
        <p:nvSpPr>
          <p:cNvPr id="40" name="Text 38"/>
          <p:cNvSpPr/>
          <p:nvPr/>
        </p:nvSpPr>
        <p:spPr>
          <a:xfrm>
            <a:off x="6583680" y="5404104"/>
            <a:ext cx="4892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pricing from a debt-stressed vendor is introductory pricing — read the escalator. And it still buys zero role, person, or fit capability.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57200" y="65105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Mabry.Ai Signal Intelligence · run 2026-08-07 · cached/indexed sources — verify verbatim quotes before client use · INTERNAL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77640" cy="6858000"/>
          </a:xfrm>
          <a:prstGeom prst="rect">
            <a:avLst/>
          </a:prstGeom>
          <a:solidFill>
            <a:srgbClr val="141B2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457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B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BATTLECARD · THREAT #6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11480" y="7772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Index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1691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predictiveindex.com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20574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B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+ FIT — TMA &amp; BrainsFirst lead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11480" y="26060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9D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 Sell the outgrowing — never frontal-assault the BA managers love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1480" y="3337560"/>
            <a:ext cx="3246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1955 · G2 ~4.7 / ~720 reviews</a:t>
            </a:r>
            <a:endParaRPr lang="en-US" sz="100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6-min, 2-question adjective checklist + 12-min cognitive</a:t>
            </a:r>
            <a:endParaRPr lang="en-US" sz="100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change Mar 26, 2026: Lance Neuhauser (AI/adtech outsider)</a:t>
            </a:r>
            <a:endParaRPr lang="en-US" sz="100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Certified-partner reseller channel — reach + variable quality</a:t>
            </a:r>
            <a:endParaRPr lang="en-US" sz="100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$5K–$40K band; Q4 discount desperation documented</a:t>
            </a:r>
            <a:endParaRPr lang="en-US" sz="100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Employee-reported “almost annual” layoffs, strategy churn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343400" y="41148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two-minute read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343400" y="960120"/>
            <a:ext cx="75438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archetypal mid-market rival: one cheap, fast, manager-loved instrument stretched across the lifecycle</a:t>
            </a:r>
            <a:endParaRPr lang="en-US" sz="115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scientific load rests on 4 factors / 17 Reference Profiles — no motivation measurement</a:t>
            </a:r>
            <a:endParaRPr lang="en-US" sz="115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own compliance pages insist the BA be “only one data point” — a standing concession</a:t>
            </a:r>
            <a:endParaRPr lang="en-US" sz="115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longer “steady”: outsider CEO with AI-rebuild mandate = repackaging/repricing risk 2026–27</a:t>
            </a:r>
            <a:endParaRPr lang="en-US" sz="115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don’t hate PI — they outgrow it. “PI tells you week one; TMA tells you year two.”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43400" y="4160520"/>
            <a:ext cx="3703320" cy="2148840"/>
          </a:xfrm>
          <a:prstGeom prst="roundRect">
            <a:avLst>
              <a:gd name="adj" fmla="val 3830"/>
            </a:avLst>
          </a:prstGeom>
          <a:solidFill>
            <a:srgbClr val="FBEAE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43159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THEY WIN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0" y="4645152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5A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cheap, high-volume screening with manager-friendly outputs</a:t>
            </a:r>
            <a:endParaRPr lang="en-US" sz="98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5A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certified-partner relationships a cold pitch can’t beat</a:t>
            </a:r>
            <a:endParaRPr lang="en-US" sz="98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5A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Category-language lock-in (“Talent Optimization,” Reference Profiles)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8211312" y="4160520"/>
            <a:ext cx="3703320" cy="2148840"/>
          </a:xfrm>
          <a:prstGeom prst="roundRect">
            <a:avLst>
              <a:gd name="adj" fmla="val 3830"/>
            </a:avLst>
          </a:prstGeom>
          <a:solidFill>
            <a:srgbClr val="E4F5F1"/>
          </a:solidFill>
          <a:ln/>
        </p:spPr>
      </p:sp>
      <p:sp>
        <p:nvSpPr>
          <p:cNvPr id="15" name="Text 13"/>
          <p:cNvSpPr/>
          <p:nvPr/>
        </p:nvSpPr>
        <p:spPr>
          <a:xfrm>
            <a:off x="8439912" y="43159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FB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BEAT THEM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439912" y="4645152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Flank via Experience — PI Perform is the struggling bolt-on</a:t>
            </a:r>
            <a:endParaRPr lang="en-US" sz="98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 / high-stakes roles: demand role-specific validation + subgroup data</a:t>
            </a:r>
            <a:endParaRPr lang="en-US" sz="98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/ retention: Talent = Want x Can — PI only gestures at the Can</a:t>
            </a:r>
            <a:endParaRPr lang="en-US" sz="98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displacement bids to their fiscal Q4 + 2026 repackaging uncertainty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4343400" y="651052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Mabry.Ai Signal Intelligence · run 2026-08-07 · cached/indexed sources — verify verbatim quotes before client use · INTERNAL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Index — positioning &amp; narrative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87782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criteria they install, the criteria they avoid, and the lines they hand us.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4892040"/>
          </a:xfrm>
          <a:prstGeom prst="roundRect">
            <a:avLst>
              <a:gd name="adj" fmla="val 1869"/>
            </a:avLst>
          </a:prstGeom>
          <a:solidFill>
            <a:srgbClr val="F2F5FB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00200"/>
            <a:ext cx="1046988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ownership: “Talent Optimization” is PI’s invented category — reports, certifications, courses. A genuine US mid-market narrative moat. One platform, one language (17 Reference Profiles), hire-to-inspire.</a:t>
            </a:r>
            <a:endParaRPr lang="en-US" sz="1150" dirty="0"/>
          </a:p>
          <a:p>
            <a:pPr marL="101600" indent="-1016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instrument: two ~86-adjective free-choice checklists, untimed ~6 min → 4 factors; PI Cognitive = 12 min. Job Targets = stakeholder-consensus ranges on those scores. PRECISION: it’s free-choice, NOT forced-choice ipsative — never say “ipsative” or they’ll rebut the detail. Say: self-report, single method, six minutes.</a:t>
            </a:r>
            <a:endParaRPr lang="en-US" sz="1150" dirty="0"/>
          </a:p>
          <a:p>
            <a:pPr marL="101600" indent="-1016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 posture: EFPA-certified BA (real credential — respect it); 400+ client validation studies claimed at r = .20–.40, mostly self-published; one global ~10K norm; their own compliance pages insist the BA be “only one data point” — a standing concession.</a:t>
            </a:r>
            <a:endParaRPr lang="en-US" sz="1150" dirty="0"/>
          </a:p>
          <a:p>
            <a:pPr marL="101600" indent="-1016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Modules: Hire / Inspire / Design / Perform (Charma bolt-on, Dec 2023) / Diagnose (de-emphasized). Talent Optimization Essentials bundle (Feb 2025); 20+ HRIS/ATS integrations.</a:t>
            </a:r>
            <a:endParaRPr lang="en-US" sz="1150" dirty="0"/>
          </a:p>
          <a:p>
            <a:pPr marL="101600" indent="-1016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 they install: speed, simplicity, manager adoption, price, 70-year brand. Criteria they avoid: method breadth, motivation, subgroup adverse-impact tables, local validation, role architecture, engagement depth.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Mabry.Ai Signal Intelligence · run 2026-08-07 · cached/indexed sources — verify verbatim quotes before client use · INTERNAL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Index — feature matrix vs. the stack</a:t>
            </a:r>
            <a:endParaRPr lang="en-US" sz="25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11091672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4663440"/>
                <a:gridCol w="409651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Predictive Index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TMA Performance stack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Behavioral / personality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6-min free-choice checklist → 4 factors / 17 profiles; EFPA-certified; manager-beloved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745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TMA multi-instrument person architecture — concede speed, fight on depth and purpose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Motivation / drives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— profiles describe HOW someone behaves, not WHY or what sustains them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745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TMA: Talent = Want x Can — the retention wedge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Cognitive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12-min speed test; no public subgroup d-statistics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745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BrainsFirst NeurOlympics: 4 games ~45 min, 1,500+ datapoints, task-based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 / job matching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 Targets = consensus ranges on the same 2-question instrument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745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Validated game battery + role profiles — “what validates the target for THIS role?”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360 / engagement / performance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Diagnose = basic survey; PI Perform = 2023 bolt-on customers found “challenging to get off the ground”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745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DecisionWise specialist 360 + engagement practice — their weakest reviewed area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layer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Nothing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745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STYR — rides in free via pay-transparency conversations PI never touches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 model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Certified-partner reseller channel — reach + sticky relationships, but variable quality and retention incentives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745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Consortium consultative delivery, one accountable model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Science documentation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Self-published summaries + EFPA; no public subgroup adverse-impact tables; norm refresh unpublished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745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Published psychometrics per layer; role-specific validation runnable — the regulated-hiring lever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5105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Mabry.Ai Signal Intelligence · run 2026-08-07 · cached/indexed sources — verify verbatim quotes before client use · INTERNAL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Index — exploitable gaps (full ranked list)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87782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first, then the move. Confidence tags in the battlecard.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5486400" cy="1572768"/>
          </a:xfrm>
          <a:prstGeom prst="roundRect">
            <a:avLst>
              <a:gd name="adj" fmla="val 5233"/>
            </a:avLst>
          </a:prstGeom>
          <a:solidFill>
            <a:srgbClr val="F2F5FB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444752"/>
            <a:ext cx="310896" cy="310896"/>
          </a:xfrm>
          <a:prstGeom prst="ellipse">
            <a:avLst/>
          </a:prstGeom>
          <a:solidFill>
            <a:srgbClr val="2FB7A4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444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33856" y="1408176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instrument carries the whole load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68096" y="1828800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6-minute free-choice checklist → 4 factors; their own guidance concedes “one data point”; managers “overguess or misunderstand patterns.”</a:t>
            </a:r>
            <a:endParaRPr lang="en-US" sz="860" dirty="0"/>
          </a:p>
        </p:txBody>
      </p:sp>
      <p:sp>
        <p:nvSpPr>
          <p:cNvPr id="9" name="Text 7"/>
          <p:cNvSpPr/>
          <p:nvPr/>
        </p:nvSpPr>
        <p:spPr>
          <a:xfrm>
            <a:off x="768096" y="2414016"/>
            <a:ext cx="5074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i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regulated hiring, ask for the role-specific validation study and subgroup adverse-impact data. Public docs are guidance-level.</a:t>
            </a:r>
            <a:endParaRPr lang="en-US" sz="860" dirty="0"/>
          </a:p>
        </p:txBody>
      </p:sp>
      <p:sp>
        <p:nvSpPr>
          <p:cNvPr id="10" name="Shape 8"/>
          <p:cNvSpPr/>
          <p:nvPr/>
        </p:nvSpPr>
        <p:spPr>
          <a:xfrm>
            <a:off x="6263640" y="1298448"/>
            <a:ext cx="5486400" cy="1572768"/>
          </a:xfrm>
          <a:prstGeom prst="roundRect">
            <a:avLst>
              <a:gd name="adj" fmla="val 5233"/>
            </a:avLst>
          </a:prstGeom>
          <a:solidFill>
            <a:srgbClr val="F2F5FB"/>
          </a:solidFill>
          <a:ln/>
        </p:spPr>
      </p:sp>
      <p:sp>
        <p:nvSpPr>
          <p:cNvPr id="11" name="Shape 9"/>
          <p:cNvSpPr/>
          <p:nvPr/>
        </p:nvSpPr>
        <p:spPr>
          <a:xfrm>
            <a:off x="6428232" y="1444752"/>
            <a:ext cx="310896" cy="310896"/>
          </a:xfrm>
          <a:prstGeom prst="ellipse">
            <a:avLst/>
          </a:prstGeom>
          <a:solidFill>
            <a:srgbClr val="2FB7A4"/>
          </a:solidFill>
          <a:ln/>
        </p:spPr>
      </p:sp>
      <p:sp>
        <p:nvSpPr>
          <p:cNvPr id="12" name="Text 10"/>
          <p:cNvSpPr/>
          <p:nvPr/>
        </p:nvSpPr>
        <p:spPr>
          <a:xfrm>
            <a:off x="6428232" y="1444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48856" y="1408176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motivation measurement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83096" y="1828800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Profiles describe how someone behaves — not why, or what sustains them.</a:t>
            </a:r>
            <a:endParaRPr lang="en-US" sz="860" dirty="0"/>
          </a:p>
        </p:txBody>
      </p:sp>
      <p:sp>
        <p:nvSpPr>
          <p:cNvPr id="15" name="Text 13"/>
          <p:cNvSpPr/>
          <p:nvPr/>
        </p:nvSpPr>
        <p:spPr>
          <a:xfrm>
            <a:off x="6483096" y="2414016"/>
            <a:ext cx="5074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i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“Your PI data didn’t change, but people keep leaving — behavior style isn’t motivation.” The retention wedge.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548640" y="2999232"/>
            <a:ext cx="5486400" cy="1572768"/>
          </a:xfrm>
          <a:prstGeom prst="roundRect">
            <a:avLst>
              <a:gd name="adj" fmla="val 5233"/>
            </a:avLst>
          </a:prstGeom>
          <a:solidFill>
            <a:srgbClr val="F2F5FB"/>
          </a:solidFill>
          <a:ln/>
        </p:spPr>
      </p:sp>
      <p:sp>
        <p:nvSpPr>
          <p:cNvPr id="17" name="Shape 15"/>
          <p:cNvSpPr/>
          <p:nvPr/>
        </p:nvSpPr>
        <p:spPr>
          <a:xfrm>
            <a:off x="713232" y="3145536"/>
            <a:ext cx="310896" cy="310896"/>
          </a:xfrm>
          <a:prstGeom prst="ellipse">
            <a:avLst/>
          </a:prstGeom>
          <a:solidFill>
            <a:srgbClr val="2FB7A4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33856" y="310896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layer is a struggling bolt-on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68096" y="3529584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Perform (Charma, 2023) “challenging to get off the ground” per customers; Diagnose de-emphasized.</a:t>
            </a:r>
            <a:endParaRPr lang="en-US" sz="860" dirty="0"/>
          </a:p>
        </p:txBody>
      </p:sp>
      <p:sp>
        <p:nvSpPr>
          <p:cNvPr id="21" name="Text 19"/>
          <p:cNvSpPr/>
          <p:nvPr/>
        </p:nvSpPr>
        <p:spPr>
          <a:xfrm>
            <a:off x="768096" y="4114800"/>
            <a:ext cx="5074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i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wedge #1 when PI is incumbent — land DecisionWise engagement/360 alongside the entrenched BA.</a:t>
            </a:r>
            <a:endParaRPr lang="en-US" sz="860" dirty="0"/>
          </a:p>
        </p:txBody>
      </p:sp>
      <p:sp>
        <p:nvSpPr>
          <p:cNvPr id="22" name="Shape 20"/>
          <p:cNvSpPr/>
          <p:nvPr/>
        </p:nvSpPr>
        <p:spPr>
          <a:xfrm>
            <a:off x="6263640" y="2999232"/>
            <a:ext cx="5486400" cy="1572768"/>
          </a:xfrm>
          <a:prstGeom prst="roundRect">
            <a:avLst>
              <a:gd name="adj" fmla="val 5233"/>
            </a:avLst>
          </a:prstGeom>
          <a:solidFill>
            <a:srgbClr val="F2F5FB"/>
          </a:solidFill>
          <a:ln/>
        </p:spPr>
      </p:sp>
      <p:sp>
        <p:nvSpPr>
          <p:cNvPr id="23" name="Shape 21"/>
          <p:cNvSpPr/>
          <p:nvPr/>
        </p:nvSpPr>
        <p:spPr>
          <a:xfrm>
            <a:off x="6428232" y="3145536"/>
            <a:ext cx="310896" cy="310896"/>
          </a:xfrm>
          <a:prstGeom prst="ellipse">
            <a:avLst/>
          </a:prstGeom>
          <a:solidFill>
            <a:srgbClr val="2FB7A4"/>
          </a:solidFill>
          <a:ln/>
        </p:spPr>
      </p:sp>
      <p:sp>
        <p:nvSpPr>
          <p:cNvPr id="24" name="Text 22"/>
          <p:cNvSpPr/>
          <p:nvPr/>
        </p:nvSpPr>
        <p:spPr>
          <a:xfrm>
            <a:off x="642823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48856" y="310896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instability window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483096" y="3529584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Outsider CEO with rebuild mandate; annual-layoff reports; partner channel faces retraining/recertification.</a:t>
            </a:r>
            <a:endParaRPr lang="en-US" sz="860" dirty="0"/>
          </a:p>
        </p:txBody>
      </p:sp>
      <p:sp>
        <p:nvSpPr>
          <p:cNvPr id="27" name="Text 25"/>
          <p:cNvSpPr/>
          <p:nvPr/>
        </p:nvSpPr>
        <p:spPr>
          <a:xfrm>
            <a:off x="6483096" y="4114800"/>
            <a:ext cx="5074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i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does platform, packaging, and price look like after the AI relaunch — in writing, through your renewal?”</a:t>
            </a:r>
            <a:endParaRPr lang="en-US" sz="860" dirty="0"/>
          </a:p>
        </p:txBody>
      </p:sp>
      <p:sp>
        <p:nvSpPr>
          <p:cNvPr id="28" name="Shape 26"/>
          <p:cNvSpPr/>
          <p:nvPr/>
        </p:nvSpPr>
        <p:spPr>
          <a:xfrm>
            <a:off x="548640" y="4700016"/>
            <a:ext cx="5486400" cy="1572768"/>
          </a:xfrm>
          <a:prstGeom prst="roundRect">
            <a:avLst>
              <a:gd name="adj" fmla="val 5233"/>
            </a:avLst>
          </a:prstGeom>
          <a:solidFill>
            <a:srgbClr val="F2F5FB"/>
          </a:solidFill>
          <a:ln/>
        </p:spPr>
      </p:sp>
      <p:sp>
        <p:nvSpPr>
          <p:cNvPr id="29" name="Shape 27"/>
          <p:cNvSpPr/>
          <p:nvPr/>
        </p:nvSpPr>
        <p:spPr>
          <a:xfrm>
            <a:off x="713232" y="4846320"/>
            <a:ext cx="310896" cy="310896"/>
          </a:xfrm>
          <a:prstGeom prst="ellipse">
            <a:avLst/>
          </a:prstGeom>
          <a:solidFill>
            <a:srgbClr val="2FB7A4"/>
          </a:solidFill>
          <a:ln/>
        </p:spPr>
      </p:sp>
      <p:sp>
        <p:nvSpPr>
          <p:cNvPr id="30" name="Text 28"/>
          <p:cNvSpPr/>
          <p:nvPr/>
        </p:nvSpPr>
        <p:spPr>
          <a:xfrm>
            <a:off x="713232" y="4846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33856" y="4809744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Role layer at all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68096" y="5230368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in the product line touches job architecture, leveling, or pay.</a:t>
            </a:r>
            <a:endParaRPr lang="en-US" sz="860" dirty="0"/>
          </a:p>
        </p:txBody>
      </p:sp>
      <p:sp>
        <p:nvSpPr>
          <p:cNvPr id="33" name="Text 31"/>
          <p:cNvSpPr/>
          <p:nvPr/>
        </p:nvSpPr>
        <p:spPr>
          <a:xfrm>
            <a:off x="768096" y="5815584"/>
            <a:ext cx="5074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i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STYR enters via comp/architecture conversations with zero collision — attach Person + Fit later.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6263640" y="4700016"/>
            <a:ext cx="5486400" cy="1572768"/>
          </a:xfrm>
          <a:prstGeom prst="roundRect">
            <a:avLst>
              <a:gd name="adj" fmla="val 5233"/>
            </a:avLst>
          </a:prstGeom>
          <a:solidFill>
            <a:srgbClr val="F2F5FB"/>
          </a:solidFill>
          <a:ln/>
        </p:spPr>
      </p:sp>
      <p:sp>
        <p:nvSpPr>
          <p:cNvPr id="35" name="Shape 33"/>
          <p:cNvSpPr/>
          <p:nvPr/>
        </p:nvSpPr>
        <p:spPr>
          <a:xfrm>
            <a:off x="6428232" y="4846320"/>
            <a:ext cx="310896" cy="310896"/>
          </a:xfrm>
          <a:prstGeom prst="ellipse">
            <a:avLst/>
          </a:prstGeom>
          <a:solidFill>
            <a:srgbClr val="2FB7A4"/>
          </a:solidFill>
          <a:ln/>
        </p:spPr>
      </p:sp>
      <p:sp>
        <p:nvSpPr>
          <p:cNvPr id="36" name="Text 34"/>
          <p:cNvSpPr/>
          <p:nvPr/>
        </p:nvSpPr>
        <p:spPr>
          <a:xfrm>
            <a:off x="6428232" y="4846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848856" y="4809744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Partner-quality variance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483096" y="5230368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certified PI consultants can sell licenses; hundreds of resellers from boutiques to CPA firms; incentive to retain clients regardless of fit.</a:t>
            </a:r>
            <a:endParaRPr lang="en-US" sz="860" dirty="0"/>
          </a:p>
        </p:txBody>
      </p:sp>
      <p:sp>
        <p:nvSpPr>
          <p:cNvPr id="39" name="Text 37"/>
          <p:cNvSpPr/>
          <p:nvPr/>
        </p:nvSpPr>
        <p:spPr>
          <a:xfrm>
            <a:off x="6483096" y="5815584"/>
            <a:ext cx="5074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i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“Who implemented your assessment program — the vendor or a reseller — and what happens if that relationship changes?”</a:t>
            </a:r>
            <a:endParaRPr lang="en-US" sz="860" dirty="0"/>
          </a:p>
        </p:txBody>
      </p:sp>
      <p:sp>
        <p:nvSpPr>
          <p:cNvPr id="40" name="Text 38"/>
          <p:cNvSpPr/>
          <p:nvPr/>
        </p:nvSpPr>
        <p:spPr>
          <a:xfrm>
            <a:off x="457200" y="65105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Mabry.Ai Signal Intelligence · run 2026-08-07 · cached/indexed sources — verify verbatim quotes before client use · INTERNAL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Index — pricing, complaints, ex-employee signals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3611880" cy="5029200"/>
          </a:xfrm>
          <a:prstGeom prst="roundRect">
            <a:avLst>
              <a:gd name="adj" fmla="val 2532"/>
            </a:avLst>
          </a:prstGeom>
          <a:solidFill>
            <a:srgbClr val="F2F5FB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1325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signals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49808" y="1755648"/>
            <a:ext cx="32461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Employee-count annual subscription, unlimited assessments — great optics for volume screening, expensive for pocket-hiring orgs (flat fee regardless of usage)</a:t>
            </a:r>
            <a:endParaRPr lang="en-US" sz="92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Benchmarks: entry ~$5K; $8K–18K at 50–200 employees; mid-market ACV est. $10K–40K; multi-year 15–30% off; Q4 discount desperation documented</a:t>
            </a:r>
            <a:endParaRPr lang="en-US" sz="92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is usually cheaper on sticker — don’t chase. Frame 1: cost-per-decision-quality (a 6-minute checklist pricing a clinical-leadership hire is the expensive option; bad hire ≈ 3x salary)</a:t>
            </a:r>
            <a:endParaRPr lang="en-US" sz="92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2: usage math — flat fee ÷ actual hires often exceeds per-candidate specialist assessment. Displacement bids: their renewal + their Q4 + 2026 repackaging = maximum leverage</a:t>
            </a:r>
            <a:endParaRPr lang="en-US" sz="920" dirty="0"/>
          </a:p>
        </p:txBody>
      </p:sp>
      <p:sp>
        <p:nvSpPr>
          <p:cNvPr id="6" name="Shape 4"/>
          <p:cNvSpPr/>
          <p:nvPr/>
        </p:nvSpPr>
        <p:spPr>
          <a:xfrm>
            <a:off x="4343400" y="1143000"/>
            <a:ext cx="3611880" cy="5029200"/>
          </a:xfrm>
          <a:prstGeom prst="roundRect">
            <a:avLst>
              <a:gd name="adj" fmla="val 2532"/>
            </a:avLst>
          </a:prstGeom>
          <a:solidFill>
            <a:srgbClr val="F2F5FB"/>
          </a:solidFill>
          <a:ln/>
        </p:spPr>
      </p:sp>
      <p:sp>
        <p:nvSpPr>
          <p:cNvPr id="7" name="Text 5"/>
          <p:cNvSpPr/>
          <p:nvPr/>
        </p:nvSpPr>
        <p:spPr>
          <a:xfrm>
            <a:off x="4544568" y="1325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complaints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44568" y="1755648"/>
            <a:ext cx="32461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negative volume — PI is genuinely well-liked (G2 ~4.7/~720). Do NOT pitch “customers hate PI”; pitch “customers OUTGROW PI”</a:t>
            </a:r>
            <a:endParaRPr lang="en-US" sz="92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exploitable one: managers “overgeneralize or misunderstand patterns without proper training” — misuse-beyond-scope in the customer’s own words</a:t>
            </a:r>
            <a:endParaRPr lang="en-US" sz="92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Perform adoption struggles — the weakest module</a:t>
            </a:r>
            <a:endParaRPr lang="en-US" sz="92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skepticism from IO practitioners on 6-minute selection decisions; PI’s own hedging corroborates</a:t>
            </a:r>
            <a:endParaRPr lang="en-US" sz="92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Respect: speed, instant readability, support quality, the Reference Profile common language — real switching cost; map PI profiles to TMA language in transition collateral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8138160" y="1143000"/>
            <a:ext cx="3611880" cy="5029200"/>
          </a:xfrm>
          <a:prstGeom prst="roundRect">
            <a:avLst>
              <a:gd name="adj" fmla="val 2532"/>
            </a:avLst>
          </a:prstGeom>
          <a:solidFill>
            <a:srgbClr val="F2F5FB"/>
          </a:solidFill>
          <a:ln/>
        </p:spPr>
      </p:sp>
      <p:sp>
        <p:nvSpPr>
          <p:cNvPr id="10" name="Text 8"/>
          <p:cNvSpPr/>
          <p:nvPr/>
        </p:nvSpPr>
        <p:spPr>
          <a:xfrm>
            <a:off x="8339328" y="1325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Ex-employee signals (public only)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339328" y="1755648"/>
            <a:ext cx="32461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Glassdoor ~191 (74% recommend, culture 4.0) BUT: layoffs “an almost annual occurrence… without prior notice, even after CEO/CFO reassurances”; “direction pivots so frequently that very little gets followed through”</a:t>
            </a:r>
            <a:endParaRPr lang="en-US" sz="92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internal strategy-churn theme now has external confirmation: the board replaced a 12-year CEO with an AI/adtech outsider (Neuhauser, Mar 26 2026)</a:t>
            </a:r>
            <a:endParaRPr lang="en-US" sz="92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(marked): roadmap volatility through 2027 (AI relaunch), partner-channel disruption (retraining/recert), repricing risk — all fair contract questions, all stability selling points for the consortium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457200" y="65105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Mabry.Ai Signal Intelligence · run 2026-08-07 · cached/indexed sources — verify verbatim quotes before client use · INTERNAL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Index — run-alongside plan &amp; MEDDPICC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440680" cy="5029200"/>
          </a:xfrm>
          <a:prstGeom prst="roundRect">
            <a:avLst>
              <a:gd name="adj" fmla="val 1818"/>
            </a:avLst>
          </a:prstGeom>
          <a:solidFill>
            <a:srgbClr val="E4F5F1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32588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FB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RUN-ALONGSIDE / ENTRY WEDGES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77240" y="1737360"/>
            <a:ext cx="502920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incumbents are sticky — never frontal-assault the BA managers love. Keep PI for volume screening if they love it; the stack owns the decisions that matter</a:t>
            </a:r>
            <a:endParaRPr lang="en-US" sz="1000" dirty="0"/>
          </a:p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Wedge 1: Experience layer — DecisionWise engagement/360 where PI Perform failed to launch; expand into Person/Fit at renewal</a:t>
            </a:r>
            <a:endParaRPr lang="en-US" sz="1000" dirty="0"/>
          </a:p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Wedge 2: regulated/high-stakes roles — science displacement with validation-documentation demands. Wedge 3: motivation/retention — TMA rides turnover pain PI can’t measure</a:t>
            </a:r>
            <a:endParaRPr lang="en-US" sz="1000" dirty="0"/>
          </a:p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Wedge 4: Role layer via STYR, zero collision. Wedge 5: renewal + Q4 + 2026-repackaging timing for full displacement bids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199632" y="1143000"/>
            <a:ext cx="5440680" cy="5029200"/>
          </a:xfrm>
          <a:prstGeom prst="roundRect">
            <a:avLst>
              <a:gd name="adj" fmla="val 1818"/>
            </a:avLst>
          </a:prstGeom>
          <a:solidFill>
            <a:srgbClr val="F2F5FB"/>
          </a:solidFill>
          <a:ln/>
        </p:spPr>
      </p:sp>
      <p:sp>
        <p:nvSpPr>
          <p:cNvPr id="7" name="Text 5"/>
          <p:cNvSpPr/>
          <p:nvPr/>
        </p:nvSpPr>
        <p:spPr>
          <a:xfrm>
            <a:off x="6428232" y="132588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MEDDPICC ANGLES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28232" y="1737360"/>
            <a:ext cx="502920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quality-of-hire + diversity from validated selection (TOPdesk 3→18 — approved) · retention deltas from motivation-matched placement · % of critical roles with documented validation (a metric PI can’t table publicly)</a:t>
            </a:r>
            <a:endParaRPr lang="en-US" sz="92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criteria to install: method breadth per decision-stakes tier · role-specific validation + subgroup adverse impact on the table · motivation measurement for retention-critical roles · engagement/360 depth · roadmap stability in writing through the AI relaunch · direct-vs-reseller accountability</a:t>
            </a:r>
            <a:endParaRPr lang="en-US" sz="92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unsolved: why people leave (motivation), what roles should be (architecture), how leaders develop (360 craft), any decision where fast ≠ right</a:t>
            </a:r>
            <a:endParaRPr lang="en-US" sz="92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process: sales-led opaque pricing, flat-fee mismatch, reseller-in-the-middle accountability, 2026 repackaging unknowns — your leverage: Q4 timing, one-critical-role head-to-head pilots, multi-year price protection</a:t>
            </a:r>
            <a:endParaRPr lang="en-US" sz="92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Champion: don’t fight the line manager who loves Reference Profiles — bridge the language, and build your champion in TA leadership or the exec sponsor who owns turnover and succession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Mabry.Ai Signal Intelligence · run 2026-08-07 · cached/indexed sources — verify verbatim quotes before client use · INTERNAL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Index — landmines &amp; counter-FUD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landmines — never name the competitor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486400" cy="749808"/>
          </a:xfrm>
          <a:prstGeom prst="roundRect">
            <a:avLst>
              <a:gd name="adj" fmla="val 8537"/>
            </a:avLst>
          </a:prstGeom>
          <a:solidFill>
            <a:srgbClr val="F2F5FB"/>
          </a:solidFill>
          <a:ln/>
        </p:spPr>
      </p:sp>
      <p:sp>
        <p:nvSpPr>
          <p:cNvPr id="5" name="Shape 3"/>
          <p:cNvSpPr/>
          <p:nvPr/>
        </p:nvSpPr>
        <p:spPr>
          <a:xfrm>
            <a:off x="694944" y="1563624"/>
            <a:ext cx="274320" cy="274320"/>
          </a:xfrm>
          <a:prstGeom prst="ellipse">
            <a:avLst/>
          </a:prstGeom>
          <a:solidFill>
            <a:srgbClr val="141B2E"/>
          </a:solidFill>
          <a:ln/>
        </p:spPr>
      </p:sp>
      <p:sp>
        <p:nvSpPr>
          <p:cNvPr id="6" name="Text 4"/>
          <p:cNvSpPr/>
          <p:nvPr/>
        </p:nvSpPr>
        <p:spPr>
          <a:xfrm>
            <a:off x="694944" y="15636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078992" y="1371600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“For the roles where a bad hire really hurts — what role-specific validation and adverse-impact analysis sits behind your current assessment?”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548640" y="2167128"/>
            <a:ext cx="5486400" cy="749808"/>
          </a:xfrm>
          <a:prstGeom prst="roundRect">
            <a:avLst>
              <a:gd name="adj" fmla="val 8537"/>
            </a:avLst>
          </a:prstGeom>
          <a:solidFill>
            <a:srgbClr val="F2F5FB"/>
          </a:solidFill>
          <a:ln/>
        </p:spPr>
      </p:sp>
      <p:sp>
        <p:nvSpPr>
          <p:cNvPr id="9" name="Shape 7"/>
          <p:cNvSpPr/>
          <p:nvPr/>
        </p:nvSpPr>
        <p:spPr>
          <a:xfrm>
            <a:off x="694944" y="2404872"/>
            <a:ext cx="274320" cy="274320"/>
          </a:xfrm>
          <a:prstGeom prst="ellipse">
            <a:avLst/>
          </a:prstGeom>
          <a:solidFill>
            <a:srgbClr val="141B2E"/>
          </a:solidFill>
          <a:ln/>
        </p:spPr>
      </p:sp>
      <p:sp>
        <p:nvSpPr>
          <p:cNvPr id="10" name="Text 8"/>
          <p:cNvSpPr/>
          <p:nvPr/>
        </p:nvSpPr>
        <p:spPr>
          <a:xfrm>
            <a:off x="694944" y="2404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78992" y="2212848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“Does your assessment measure what motivates someone to stay, or how they behave?”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548640" y="3008376"/>
            <a:ext cx="5486400" cy="749808"/>
          </a:xfrm>
          <a:prstGeom prst="roundRect">
            <a:avLst>
              <a:gd name="adj" fmla="val 8537"/>
            </a:avLst>
          </a:prstGeom>
          <a:solidFill>
            <a:srgbClr val="F2F5FB"/>
          </a:solidFill>
          <a:ln/>
        </p:spPr>
      </p:sp>
      <p:sp>
        <p:nvSpPr>
          <p:cNvPr id="13" name="Shape 11"/>
          <p:cNvSpPr/>
          <p:nvPr/>
        </p:nvSpPr>
        <p:spPr>
          <a:xfrm>
            <a:off x="694944" y="3246120"/>
            <a:ext cx="274320" cy="274320"/>
          </a:xfrm>
          <a:prstGeom prst="ellipse">
            <a:avLst/>
          </a:prstGeom>
          <a:solidFill>
            <a:srgbClr val="141B2E"/>
          </a:solidFill>
          <a:ln/>
        </p:spPr>
      </p:sp>
      <p:sp>
        <p:nvSpPr>
          <p:cNvPr id="14" name="Text 12"/>
          <p:cNvSpPr/>
          <p:nvPr/>
        </p:nvSpPr>
        <p:spPr>
          <a:xfrm>
            <a:off x="694944" y="3246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078992" y="3054096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was the job target set — measured against performance data, or a stakeholder consensus meeting?”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548640" y="3849624"/>
            <a:ext cx="5486400" cy="749808"/>
          </a:xfrm>
          <a:prstGeom prst="roundRect">
            <a:avLst>
              <a:gd name="adj" fmla="val 8537"/>
            </a:avLst>
          </a:prstGeom>
          <a:solidFill>
            <a:srgbClr val="F2F5FB"/>
          </a:solidFill>
          <a:ln/>
        </p:spPr>
      </p:sp>
      <p:sp>
        <p:nvSpPr>
          <p:cNvPr id="17" name="Shape 15"/>
          <p:cNvSpPr/>
          <p:nvPr/>
        </p:nvSpPr>
        <p:spPr>
          <a:xfrm>
            <a:off x="694944" y="4087368"/>
            <a:ext cx="274320" cy="274320"/>
          </a:xfrm>
          <a:prstGeom prst="ellipse">
            <a:avLst/>
          </a:prstGeom>
          <a:solidFill>
            <a:srgbClr val="141B2E"/>
          </a:solidFill>
          <a:ln/>
        </p:spPr>
      </p:sp>
      <p:sp>
        <p:nvSpPr>
          <p:cNvPr id="18" name="Text 16"/>
          <p:cNvSpPr/>
          <p:nvPr/>
        </p:nvSpPr>
        <p:spPr>
          <a:xfrm>
            <a:off x="694944" y="40873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078992" y="3895344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does your flat platform fee work out to per actual hire made last year?”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548640" y="4690872"/>
            <a:ext cx="5486400" cy="749808"/>
          </a:xfrm>
          <a:prstGeom prst="roundRect">
            <a:avLst>
              <a:gd name="adj" fmla="val 8537"/>
            </a:avLst>
          </a:prstGeom>
          <a:solidFill>
            <a:srgbClr val="F2F5FB"/>
          </a:solidFill>
          <a:ln/>
        </p:spPr>
      </p:sp>
      <p:sp>
        <p:nvSpPr>
          <p:cNvPr id="21" name="Shape 19"/>
          <p:cNvSpPr/>
          <p:nvPr/>
        </p:nvSpPr>
        <p:spPr>
          <a:xfrm>
            <a:off x="694944" y="4928616"/>
            <a:ext cx="274320" cy="274320"/>
          </a:xfrm>
          <a:prstGeom prst="ellipse">
            <a:avLst/>
          </a:prstGeom>
          <a:solidFill>
            <a:srgbClr val="141B2E"/>
          </a:solidFill>
          <a:ln/>
        </p:spPr>
      </p:sp>
      <p:sp>
        <p:nvSpPr>
          <p:cNvPr id="22" name="Text 20"/>
          <p:cNvSpPr/>
          <p:nvPr/>
        </p:nvSpPr>
        <p:spPr>
          <a:xfrm>
            <a:off x="694944" y="49286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078992" y="4736592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“Who implemented your assessment program — the vendor or a reseller — and what happens if that partner relationship changes?”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548640" y="5532120"/>
            <a:ext cx="5486400" cy="749808"/>
          </a:xfrm>
          <a:prstGeom prst="roundRect">
            <a:avLst>
              <a:gd name="adj" fmla="val 8537"/>
            </a:avLst>
          </a:prstGeom>
          <a:solidFill>
            <a:srgbClr val="F2F5FB"/>
          </a:solidFill>
          <a:ln/>
        </p:spPr>
      </p:sp>
      <p:sp>
        <p:nvSpPr>
          <p:cNvPr id="25" name="Shape 23"/>
          <p:cNvSpPr/>
          <p:nvPr/>
        </p:nvSpPr>
        <p:spPr>
          <a:xfrm>
            <a:off x="694944" y="5769864"/>
            <a:ext cx="274320" cy="274320"/>
          </a:xfrm>
          <a:prstGeom prst="ellipse">
            <a:avLst/>
          </a:prstGeom>
          <a:solidFill>
            <a:srgbClr val="141B2E"/>
          </a:solidFill>
          <a:ln/>
        </p:spPr>
      </p:sp>
      <p:sp>
        <p:nvSpPr>
          <p:cNvPr id="26" name="Text 24"/>
          <p:cNvSpPr/>
          <p:nvPr/>
        </p:nvSpPr>
        <p:spPr>
          <a:xfrm>
            <a:off x="694944" y="5769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078992" y="5577840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“How’s adoption of the performance/engagement module going — and was it built by the same company or acquired?”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6400800" y="9326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They’ll say → you say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6400800" y="1325880"/>
            <a:ext cx="5239512" cy="603504"/>
          </a:xfrm>
          <a:prstGeom prst="roundRect">
            <a:avLst>
              <a:gd name="adj" fmla="val 10606"/>
            </a:avLst>
          </a:prstGeom>
          <a:solidFill>
            <a:srgbClr val="FBEAEA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0" y="1362456"/>
            <a:ext cx="4892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consortium is four vendors — we’re one platform.”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400800" y="2002536"/>
            <a:ext cx="5239512" cy="877824"/>
          </a:xfrm>
          <a:prstGeom prst="roundRect">
            <a:avLst>
              <a:gd name="adj" fmla="val 7292"/>
            </a:avLst>
          </a:prstGeom>
          <a:solidFill>
            <a:srgbClr val="E4F5F1"/>
          </a:solidFill>
          <a:ln/>
        </p:spPr>
      </p:sp>
      <p:sp>
        <p:nvSpPr>
          <p:cNvPr id="32" name="Text 30"/>
          <p:cNvSpPr/>
          <p:nvPr/>
        </p:nvSpPr>
        <p:spPr>
          <a:xfrm>
            <a:off x="6583680" y="2039112"/>
            <a:ext cx="4892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= one 6-minute instrument wearing four module names. The stack enters one layer with one contract; each layer is the category specialist.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400800" y="3008376"/>
            <a:ext cx="5239512" cy="603504"/>
          </a:xfrm>
          <a:prstGeom prst="roundRect">
            <a:avLst>
              <a:gd name="adj" fmla="val 10606"/>
            </a:avLst>
          </a:prstGeom>
          <a:solidFill>
            <a:srgbClr val="FBEAEA"/>
          </a:solidFill>
          <a:ln/>
        </p:spPr>
      </p:sp>
      <p:sp>
        <p:nvSpPr>
          <p:cNvPr id="34" name="Text 32"/>
          <p:cNvSpPr/>
          <p:nvPr/>
        </p:nvSpPr>
        <p:spPr>
          <a:xfrm>
            <a:off x="6583680" y="3044952"/>
            <a:ext cx="4892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“Games aren’t science — checklists are proven.”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400800" y="3685032"/>
            <a:ext cx="5239512" cy="877824"/>
          </a:xfrm>
          <a:prstGeom prst="roundRect">
            <a:avLst>
              <a:gd name="adj" fmla="val 7292"/>
            </a:avLst>
          </a:prstGeom>
          <a:solidFill>
            <a:srgbClr val="E4F5F1"/>
          </a:solidFill>
          <a:ln/>
        </p:spPr>
      </p:sp>
      <p:sp>
        <p:nvSpPr>
          <p:cNvPr id="36" name="Text 34"/>
          <p:cNvSpPr/>
          <p:nvPr/>
        </p:nvSpPr>
        <p:spPr>
          <a:xfrm>
            <a:off x="6583680" y="3721608"/>
            <a:ext cx="4892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NeurOlympics measures what people DO, not what they say — 1,500+ datapoints per candidate. Ask both vendors for the technical manual; we table ours first.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400800" y="4690872"/>
            <a:ext cx="5239512" cy="603504"/>
          </a:xfrm>
          <a:prstGeom prst="roundRect">
            <a:avLst>
              <a:gd name="adj" fmla="val 10606"/>
            </a:avLst>
          </a:prstGeom>
          <a:solidFill>
            <a:srgbClr val="FBEAEA"/>
          </a:solidFill>
          <a:ln/>
        </p:spPr>
      </p:sp>
      <p:sp>
        <p:nvSpPr>
          <p:cNvPr id="38" name="Text 36"/>
          <p:cNvSpPr/>
          <p:nvPr/>
        </p:nvSpPr>
        <p:spPr>
          <a:xfrm>
            <a:off x="6583680" y="4727448"/>
            <a:ext cx="4892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“We’re AI-native now.”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400800" y="5367528"/>
            <a:ext cx="5239512" cy="877824"/>
          </a:xfrm>
          <a:prstGeom prst="roundRect">
            <a:avLst>
              <a:gd name="adj" fmla="val 7292"/>
            </a:avLst>
          </a:prstGeom>
          <a:solidFill>
            <a:srgbClr val="E4F5F1"/>
          </a:solidFill>
          <a:ln/>
        </p:spPr>
      </p:sp>
      <p:sp>
        <p:nvSpPr>
          <p:cNvPr id="40" name="Text 38"/>
          <p:cNvSpPr/>
          <p:nvPr/>
        </p:nvSpPr>
        <p:spPr>
          <a:xfrm>
            <a:off x="6583680" y="5404104"/>
            <a:ext cx="4892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AI era started with a March 2026 CEO hire; the instrument is unchanged. AI on 4 factors is a chatbot reading a horoscope.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57200" y="65105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Mabry.Ai Signal Intelligence · run 2026-08-07 · cached/indexed sources — verify verbatim quotes before client use · INTERNAL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77640" cy="6858000"/>
          </a:xfrm>
          <a:prstGeom prst="rect">
            <a:avLst/>
          </a:prstGeom>
          <a:solidFill>
            <a:srgbClr val="141B2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457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B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BATTLECARD · THREAT #7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11480" y="7772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1691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shl.com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20574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B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+ FIT — TMA &amp; BrainsFirst lead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11480" y="26060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9D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 Structure wedges, not wobble — fight on yield, never validity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1480" y="3337560"/>
            <a:ext cx="3246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 PE hold 8+ years (2018 →) — no exit visible</a:t>
            </a:r>
            <a:endParaRPr lang="en-US" sz="100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45M+ assessments/yr · 80% of FTSE 100 · 1,000+ instruments</a:t>
            </a:r>
            <a:endParaRPr lang="en-US" sz="100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~2,465 staff, flat; 54% of workforce in India</a:t>
            </a:r>
            <a:endParaRPr lang="en-US" sz="100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Mid-market signals $25K–50K/yr + services attach</a:t>
            </a:r>
            <a:endParaRPr lang="en-US" sz="100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 base strikingly thin (~3 product reviews)</a:t>
            </a:r>
            <a:endParaRPr lang="en-US" sz="100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layer confirmed absent (PDRI sold to Pearson 2023)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343400" y="41148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two-minute read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343400" y="960120"/>
            <a:ext cx="75438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published-validity gold standard — concede the library, reframe to outcomes</a:t>
            </a:r>
            <a:endParaRPr lang="en-US" sz="115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PRECISION: SHL HAS a Motivation Questionnaire (MQ.M5). Attack the seams — standalone add-on, not an integrated Want x Can frame</a:t>
            </a:r>
            <a:endParaRPr lang="en-US" sz="115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Most-documented flank: dated candidate UX, stacked batteries, translation complaints</a:t>
            </a:r>
            <a:endParaRPr lang="en-US" sz="115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own Nov 2025 research: 59% say AI worsens bias; 74% judge the company by the assessment experience — while SHL Labs builds an AI interviewer</a:t>
            </a:r>
            <a:endParaRPr lang="en-US" sz="115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destabilizing event exists — build wedges on what they are, not on wobble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43400" y="4160520"/>
            <a:ext cx="3703320" cy="2148840"/>
          </a:xfrm>
          <a:prstGeom prst="roundRect">
            <a:avLst>
              <a:gd name="adj" fmla="val 3830"/>
            </a:avLst>
          </a:prstGeom>
          <a:solidFill>
            <a:srgbClr val="FBEAE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43159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THEY WIN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0" y="4645152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5A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enterprise standardization (35+ languages, 50+ countries)</a:t>
            </a:r>
            <a:endParaRPr lang="en-US" sz="98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5A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Litigation-hardened selection — the thickest validity file in the industry</a:t>
            </a:r>
            <a:endParaRPr lang="en-US" sz="98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5A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High-volume graduate / coding screening (Aspiring Minds, IBM Kenexa channel)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8211312" y="4160520"/>
            <a:ext cx="3703320" cy="2148840"/>
          </a:xfrm>
          <a:prstGeom prst="roundRect">
            <a:avLst>
              <a:gd name="adj" fmla="val 3830"/>
            </a:avLst>
          </a:prstGeom>
          <a:solidFill>
            <a:srgbClr val="E4F5F1"/>
          </a:solidFill>
          <a:ln/>
        </p:spPr>
      </p:sp>
      <p:sp>
        <p:nvSpPr>
          <p:cNvPr id="15" name="Text 13"/>
          <p:cNvSpPr/>
          <p:nvPr/>
        </p:nvSpPr>
        <p:spPr>
          <a:xfrm>
            <a:off x="8439912" y="43159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FB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BEAT THEM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439912" y="4645152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Head-to-head pilot on completion rate, drop-off, candidate NPS — funnel yield</a:t>
            </a:r>
            <a:endParaRPr lang="en-US" sz="98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Flank via L&amp;D: their Talent Mobility product is 15 months old, dashboard-led</a:t>
            </a:r>
            <a:endParaRPr lang="en-US" sz="98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the Role layer they have no product for — land STYR, attach Person + Fit</a:t>
            </a:r>
            <a:endParaRPr lang="en-US" sz="98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Renewal-season parallel run — PE-clock margins make renewals rigid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4343400" y="651052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Mabry.Ai Signal Intelligence · run 2026-08-07 · cached/indexed sources — verify verbatim quotes before client use · INTERNAL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SHL — positioning &amp; narrative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87782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criteria they install, the criteria they avoid, and the lines they hand us.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4892040"/>
          </a:xfrm>
          <a:prstGeom prst="roundRect">
            <a:avLst>
              <a:gd name="adj" fmla="val 1869"/>
            </a:avLst>
          </a:prstGeom>
          <a:solidFill>
            <a:srgbClr val="F2F5FB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00200"/>
            <a:ext cx="1046988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One-liner: “People science. People answers.” — the science-and-scale incumbent. Criteria they install: published validity, norm depth (30+ countries, 37 sectors, 5 job levels), instrument breadth, EEOC-aligned documentation, 45B+ datapoints, 35+ languages.</a:t>
            </a:r>
            <a:endParaRPr lang="en-US" sz="1150" dirty="0"/>
          </a:p>
          <a:p>
            <a:pPr marL="101600" indent="-1016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 they avoid: candidate completion/drop-off rates, time-to-insight without expert interpretation, integrated motivation-in-decision frames, anything Role or Experience, transparent pricing.</a:t>
            </a:r>
            <a:endParaRPr lang="en-US" sz="1150" dirty="0"/>
          </a:p>
          <a:p>
            <a:pPr marL="101600" indent="-1016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Trajectory: pushing beyond hiring — Smart Interview Professional (Feb 2025), Talent Mobility (Apr 2025). Narrows but doesn’t close the activation gap: dashboards from an assessment factory, 15 months old.</a:t>
            </a:r>
            <a:endParaRPr lang="en-US" sz="1150" dirty="0"/>
          </a:p>
          <a:p>
            <a:pPr marL="101600" indent="-1016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usable irony: SHL Labs prototypes a generative-AI “digital human” interviewer while SHL’s own Nov 2025 “AI Trust Gap” research reports 59% say AI worsens bias and 74% say an AI-agent interview changes their perception of the company. Their research is your discovery script.</a:t>
            </a:r>
            <a:endParaRPr lang="en-US" sz="1150" dirty="0"/>
          </a:p>
          <a:p>
            <a:pPr marL="101600" indent="-1016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(propagate everywhere): SHL DOES sell a Motivation Questionnaire — MQ.M5, 18 dimensions, current catalog. The safe attack is integration, not existence: a standalone add-on to buy and interpret on top of OPQ, not an integrated Want x Can frame.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Mabry.Ai Signal Intelligence · run 2026-08-07 · cached/indexed sources — verify verbatim quotes before client use · INTERNAL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SHL — feature matrix vs. the stack</a:t>
            </a:r>
            <a:endParaRPr lang="en-US" sz="25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11091672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4663440"/>
                <a:gridCol w="409651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TMA Performance stack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Validity documentation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 standard — public technical manuals (OPQ32, Verify), EEOC-aligned adverse-impact reporting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745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Concede; reframe to outcomes — don’t out-library them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OPQ32 (32 traits) — the enterprise standard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745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TMA Person layer — separate instrument from motivation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Motivation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MQ.M5 EXISTS (18 dimensions, standalone add-on)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745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TMA: motivation integrated in Talent = Want x Can — attack the seams, not existence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Cognitive / ability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 + Verify Interactive; 17–19-min modules that stack into long batteries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745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NeurOlympics: 4 games ~45 min, one sitting, 1,500+ datapoints — fight on completion and candidate NPS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Game-based / neuro-behavioral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found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745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BrainsFirst — uncontested; their most-documented flank is candidate UX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Development / mobility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Virtual AC/DCs, Enterprise Leader Development, Talent Mobility (Apr 2025) — productized, dashboard-led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745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TMA consultative practice — “SHL has no development offering” is FALSE; the gap is consultative vs dashboard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 architecture / pay equity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Nothing — job ANALYSIS for assessment design only; PDRI sold to Pearson 2023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745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STYR — uncontested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Mid-market fit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Expensive end; “SHL Online” low-touch tier or services-heavy programs sized for enterprise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745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 native at 500–20K — the most exploitable GTM fact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5105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Mabry.Ai Signal Intelligence · run 2026-08-07 · cached/indexed sources — verify verbatim quotes before client use · INTERNAL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SHL — exploitable gaps (full ranked list)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87782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first, then the move. Confidence tags in the battlecard.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5486400" cy="1572768"/>
          </a:xfrm>
          <a:prstGeom prst="roundRect">
            <a:avLst>
              <a:gd name="adj" fmla="val 5233"/>
            </a:avLst>
          </a:prstGeom>
          <a:solidFill>
            <a:srgbClr val="F2F5FB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444752"/>
            <a:ext cx="310896" cy="310896"/>
          </a:xfrm>
          <a:prstGeom prst="ellipse">
            <a:avLst/>
          </a:prstGeom>
          <a:solidFill>
            <a:srgbClr val="2FB7A4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444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33856" y="1408176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silo vs integrated decision frame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68096" y="1828800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OPQ, MQ, Verify are separate catalog items; rival reviewers’ favorite contrast: scores that “don’t require expert interpretation.”</a:t>
            </a:r>
            <a:endParaRPr lang="en-US" sz="860" dirty="0"/>
          </a:p>
        </p:txBody>
      </p:sp>
      <p:sp>
        <p:nvSpPr>
          <p:cNvPr id="9" name="Text 7"/>
          <p:cNvSpPr/>
          <p:nvPr/>
        </p:nvSpPr>
        <p:spPr>
          <a:xfrm>
            <a:off x="768096" y="2414016"/>
            <a:ext cx="5074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i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“When the report lands, can your manager act that day — or does it queue for a consultant?”</a:t>
            </a:r>
            <a:endParaRPr lang="en-US" sz="860" dirty="0"/>
          </a:p>
        </p:txBody>
      </p:sp>
      <p:sp>
        <p:nvSpPr>
          <p:cNvPr id="10" name="Shape 8"/>
          <p:cNvSpPr/>
          <p:nvPr/>
        </p:nvSpPr>
        <p:spPr>
          <a:xfrm>
            <a:off x="6263640" y="1298448"/>
            <a:ext cx="5486400" cy="1572768"/>
          </a:xfrm>
          <a:prstGeom prst="roundRect">
            <a:avLst>
              <a:gd name="adj" fmla="val 5233"/>
            </a:avLst>
          </a:prstGeom>
          <a:solidFill>
            <a:srgbClr val="F2F5FB"/>
          </a:solidFill>
          <a:ln/>
        </p:spPr>
      </p:sp>
      <p:sp>
        <p:nvSpPr>
          <p:cNvPr id="11" name="Shape 9"/>
          <p:cNvSpPr/>
          <p:nvPr/>
        </p:nvSpPr>
        <p:spPr>
          <a:xfrm>
            <a:off x="6428232" y="1444752"/>
            <a:ext cx="310896" cy="310896"/>
          </a:xfrm>
          <a:prstGeom prst="ellipse">
            <a:avLst/>
          </a:prstGeom>
          <a:solidFill>
            <a:srgbClr val="2FB7A4"/>
          </a:solidFill>
          <a:ln/>
        </p:spPr>
      </p:sp>
      <p:sp>
        <p:nvSpPr>
          <p:cNvPr id="12" name="Text 10"/>
          <p:cNvSpPr/>
          <p:nvPr/>
        </p:nvSpPr>
        <p:spPr>
          <a:xfrm>
            <a:off x="6428232" y="1444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48856" y="1408176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experience / funnel yield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83096" y="1828800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UX complaints; multi-module batteries stack; 74% of candidates judge the company by the experience (their own research).</a:t>
            </a:r>
            <a:endParaRPr lang="en-US" sz="860" dirty="0"/>
          </a:p>
        </p:txBody>
      </p:sp>
      <p:sp>
        <p:nvSpPr>
          <p:cNvPr id="15" name="Text 13"/>
          <p:cNvSpPr/>
          <p:nvPr/>
        </p:nvSpPr>
        <p:spPr>
          <a:xfrm>
            <a:off x="6483096" y="2414016"/>
            <a:ext cx="5074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i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argue validity — argue yield. Pilot NeurOlympics head-to-head on completion and candidate NPS.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548640" y="2999232"/>
            <a:ext cx="5486400" cy="1572768"/>
          </a:xfrm>
          <a:prstGeom prst="roundRect">
            <a:avLst>
              <a:gd name="adj" fmla="val 5233"/>
            </a:avLst>
          </a:prstGeom>
          <a:solidFill>
            <a:srgbClr val="F2F5FB"/>
          </a:solidFill>
          <a:ln/>
        </p:spPr>
      </p:sp>
      <p:sp>
        <p:nvSpPr>
          <p:cNvPr id="17" name="Shape 15"/>
          <p:cNvSpPr/>
          <p:nvPr/>
        </p:nvSpPr>
        <p:spPr>
          <a:xfrm>
            <a:off x="713232" y="3145536"/>
            <a:ext cx="310896" cy="310896"/>
          </a:xfrm>
          <a:prstGeom prst="ellipse">
            <a:avLst/>
          </a:prstGeom>
          <a:solidFill>
            <a:srgbClr val="2FB7A4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33856" y="310896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layer confirmed absent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68096" y="3529584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job-evaluation, architecture, or pay-equity product; PDRI (gov consulting) divested 2023.</a:t>
            </a:r>
            <a:endParaRPr lang="en-US" sz="860" dirty="0"/>
          </a:p>
        </p:txBody>
      </p:sp>
      <p:sp>
        <p:nvSpPr>
          <p:cNvPr id="21" name="Text 19"/>
          <p:cNvSpPr/>
          <p:nvPr/>
        </p:nvSpPr>
        <p:spPr>
          <a:xfrm>
            <a:off x="768096" y="4114800"/>
            <a:ext cx="5074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i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Pay-transparency deadlines land in Total Rewards — an office SHL has no product for and no contact in.</a:t>
            </a:r>
            <a:endParaRPr lang="en-US" sz="860" dirty="0"/>
          </a:p>
        </p:txBody>
      </p:sp>
      <p:sp>
        <p:nvSpPr>
          <p:cNvPr id="22" name="Shape 20"/>
          <p:cNvSpPr/>
          <p:nvPr/>
        </p:nvSpPr>
        <p:spPr>
          <a:xfrm>
            <a:off x="6263640" y="2999232"/>
            <a:ext cx="5486400" cy="1572768"/>
          </a:xfrm>
          <a:prstGeom prst="roundRect">
            <a:avLst>
              <a:gd name="adj" fmla="val 5233"/>
            </a:avLst>
          </a:prstGeom>
          <a:solidFill>
            <a:srgbClr val="F2F5FB"/>
          </a:solidFill>
          <a:ln/>
        </p:spPr>
      </p:sp>
      <p:sp>
        <p:nvSpPr>
          <p:cNvPr id="23" name="Shape 21"/>
          <p:cNvSpPr/>
          <p:nvPr/>
        </p:nvSpPr>
        <p:spPr>
          <a:xfrm>
            <a:off x="6428232" y="3145536"/>
            <a:ext cx="310896" cy="310896"/>
          </a:xfrm>
          <a:prstGeom prst="ellipse">
            <a:avLst/>
          </a:prstGeom>
          <a:solidFill>
            <a:srgbClr val="2FB7A4"/>
          </a:solidFill>
          <a:ln/>
        </p:spPr>
      </p:sp>
      <p:sp>
        <p:nvSpPr>
          <p:cNvPr id="24" name="Text 22"/>
          <p:cNvSpPr/>
          <p:nvPr/>
        </p:nvSpPr>
        <p:spPr>
          <a:xfrm>
            <a:off x="642823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48856" y="310896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gap + PE-clock economics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483096" y="3529584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= dashboards from an assessment-factory DNA; 8+ year hold, flat headcount — renewals are margin events.</a:t>
            </a:r>
            <a:endParaRPr lang="en-US" sz="860" dirty="0"/>
          </a:p>
        </p:txBody>
      </p:sp>
      <p:sp>
        <p:nvSpPr>
          <p:cNvPr id="27" name="Text 25"/>
          <p:cNvSpPr/>
          <p:nvPr/>
        </p:nvSpPr>
        <p:spPr>
          <a:xfrm>
            <a:off x="6483096" y="4114800"/>
            <a:ext cx="5074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i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“After the assessment, who builds the development plan with the manager?” Run the stack in parallel entering renewal.</a:t>
            </a:r>
            <a:endParaRPr lang="en-US" sz="860" dirty="0"/>
          </a:p>
        </p:txBody>
      </p:sp>
      <p:sp>
        <p:nvSpPr>
          <p:cNvPr id="28" name="Shape 26"/>
          <p:cNvSpPr/>
          <p:nvPr/>
        </p:nvSpPr>
        <p:spPr>
          <a:xfrm>
            <a:off x="548640" y="4700016"/>
            <a:ext cx="5486400" cy="1572768"/>
          </a:xfrm>
          <a:prstGeom prst="roundRect">
            <a:avLst>
              <a:gd name="adj" fmla="val 5233"/>
            </a:avLst>
          </a:prstGeom>
          <a:solidFill>
            <a:srgbClr val="F2F5FB"/>
          </a:solidFill>
          <a:ln/>
        </p:spPr>
      </p:sp>
      <p:sp>
        <p:nvSpPr>
          <p:cNvPr id="29" name="Shape 27"/>
          <p:cNvSpPr/>
          <p:nvPr/>
        </p:nvSpPr>
        <p:spPr>
          <a:xfrm>
            <a:off x="713232" y="4846320"/>
            <a:ext cx="310896" cy="310896"/>
          </a:xfrm>
          <a:prstGeom prst="ellipse">
            <a:avLst/>
          </a:prstGeom>
          <a:solidFill>
            <a:srgbClr val="2FB7A4"/>
          </a:solidFill>
          <a:ln/>
        </p:spPr>
      </p:sp>
      <p:sp>
        <p:nvSpPr>
          <p:cNvPr id="30" name="Text 28"/>
          <p:cNvSpPr/>
          <p:nvPr/>
        </p:nvSpPr>
        <p:spPr>
          <a:xfrm>
            <a:off x="713232" y="4846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33856" y="4809744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gap — measurement without build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68096" y="5230368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products are dashboards + virtual exercises; Talent Mobility is 15 months old from an assessment-factory DNA, sold by an HP/Microsoft-trained sales org.</a:t>
            </a:r>
            <a:endParaRPr lang="en-US" sz="860" dirty="0"/>
          </a:p>
        </p:txBody>
      </p:sp>
      <p:sp>
        <p:nvSpPr>
          <p:cNvPr id="33" name="Text 31"/>
          <p:cNvSpPr/>
          <p:nvPr/>
        </p:nvSpPr>
        <p:spPr>
          <a:xfrm>
            <a:off x="768096" y="5815584"/>
            <a:ext cx="5074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i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“After the assessment lands, who sits with the manager and builds the development plan?” TMA’s practice is the product, not a feature.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6263640" y="4700016"/>
            <a:ext cx="5486400" cy="1572768"/>
          </a:xfrm>
          <a:prstGeom prst="roundRect">
            <a:avLst>
              <a:gd name="adj" fmla="val 5233"/>
            </a:avLst>
          </a:prstGeom>
          <a:solidFill>
            <a:srgbClr val="F2F5FB"/>
          </a:solidFill>
          <a:ln/>
        </p:spPr>
      </p:sp>
      <p:sp>
        <p:nvSpPr>
          <p:cNvPr id="35" name="Shape 33"/>
          <p:cNvSpPr/>
          <p:nvPr/>
        </p:nvSpPr>
        <p:spPr>
          <a:xfrm>
            <a:off x="6428232" y="4846320"/>
            <a:ext cx="310896" cy="310896"/>
          </a:xfrm>
          <a:prstGeom prst="ellipse">
            <a:avLst/>
          </a:prstGeom>
          <a:solidFill>
            <a:srgbClr val="2FB7A4"/>
          </a:solidFill>
          <a:ln/>
        </p:spPr>
      </p:sp>
      <p:sp>
        <p:nvSpPr>
          <p:cNvPr id="36" name="Text 34"/>
          <p:cNvSpPr/>
          <p:nvPr/>
        </p:nvSpPr>
        <p:spPr>
          <a:xfrm>
            <a:off x="6428232" y="4846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848856" y="4809744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PE-clock economics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483096" y="5230368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8+ year Exponent hold; flat headcount (~2,465, 54% India) — margin-management posture; renewals are where margin gets made.</a:t>
            </a:r>
            <a:endParaRPr lang="en-US" sz="860" dirty="0"/>
          </a:p>
        </p:txBody>
      </p:sp>
      <p:sp>
        <p:nvSpPr>
          <p:cNvPr id="39" name="Text 37"/>
          <p:cNvSpPr/>
          <p:nvPr/>
        </p:nvSpPr>
        <p:spPr>
          <a:xfrm>
            <a:off x="6483096" y="5815584"/>
            <a:ext cx="5074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i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champions to run the stack in parallel entering renewal season, when SHL is most rigid on price and least flexible on service. Frame as questions, never assertions.</a:t>
            </a:r>
            <a:endParaRPr lang="en-US" sz="860" dirty="0"/>
          </a:p>
        </p:txBody>
      </p:sp>
      <p:sp>
        <p:nvSpPr>
          <p:cNvPr id="40" name="Text 38"/>
          <p:cNvSpPr/>
          <p:nvPr/>
        </p:nvSpPr>
        <p:spPr>
          <a:xfrm>
            <a:off x="457200" y="65105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Mabry.Ai Signal Intelligence · run 2026-08-07 · cached/indexed sources — verify verbatim quotes before client use · INTERNAL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SHL — pricing, complaints, ex-employee signals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3611880" cy="5029200"/>
          </a:xfrm>
          <a:prstGeom prst="roundRect">
            <a:avLst>
              <a:gd name="adj" fmla="val 2532"/>
            </a:avLst>
          </a:prstGeom>
          <a:solidFill>
            <a:srgbClr val="F2F5FB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1325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signals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49808" y="1755648"/>
            <a:ext cx="32461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Quote-only; no public rate card (UK gov procurement confirms custom pricing); platform license + per-candidate volume + services attach</a:t>
            </a:r>
            <a:endParaRPr lang="en-US" sz="92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Second-hand ranges (never quote as fact): platform from ~$10K; mid-market all-in $25K–50K/yr; enterprise per-test $15–40; one referenced validation contract ~$150K. No Vendr card exists</a:t>
            </a:r>
            <a:endParaRPr lang="en-US" sz="92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the interpretation layer, not just the license — services attach is assumed in enterprise programs</a:t>
            </a:r>
            <a:endParaRPr lang="en-US" sz="92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Negotiation posture: PE-hold margin discipline = firm pricing; discounts trade against multi-year terms (inference)</a:t>
            </a:r>
            <a:endParaRPr lang="en-US" sz="920" dirty="0"/>
          </a:p>
        </p:txBody>
      </p:sp>
      <p:sp>
        <p:nvSpPr>
          <p:cNvPr id="6" name="Shape 4"/>
          <p:cNvSpPr/>
          <p:nvPr/>
        </p:nvSpPr>
        <p:spPr>
          <a:xfrm>
            <a:off x="4343400" y="1143000"/>
            <a:ext cx="3611880" cy="5029200"/>
          </a:xfrm>
          <a:prstGeom prst="roundRect">
            <a:avLst>
              <a:gd name="adj" fmla="val 2532"/>
            </a:avLst>
          </a:prstGeom>
          <a:solidFill>
            <a:srgbClr val="F2F5FB"/>
          </a:solidFill>
          <a:ln/>
        </p:spPr>
      </p:sp>
      <p:sp>
        <p:nvSpPr>
          <p:cNvPr id="7" name="Text 5"/>
          <p:cNvSpPr/>
          <p:nvPr/>
        </p:nvSpPr>
        <p:spPr>
          <a:xfrm>
            <a:off x="4544568" y="1325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complaints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44568" y="1755648"/>
            <a:ext cx="32461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Dated candidate-facing UX / legacy tech debt — echoed by employees (“bad tech built with other bad tech on top”). Date-check quotes before using</a:t>
            </a:r>
            <a:endParaRPr lang="en-US" sz="92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+ opaque pricing (consistent across buyer guides)</a:t>
            </a:r>
            <a:endParaRPr lang="en-US" sz="92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complexity/rigidity — heavy customization and integration lift</a:t>
            </a:r>
            <a:endParaRPr lang="en-US" sz="92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interpretability — rivals’ favorite contrast: “scores that don’t require expert interpretation”</a:t>
            </a:r>
            <a:endParaRPr lang="en-US" sz="92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no negative theme cleared the 3-source bar this run (review platforms blocked) — flag all as directional. Concede: science credibility, catalog breadth, reliability at scale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8138160" y="1143000"/>
            <a:ext cx="3611880" cy="5029200"/>
          </a:xfrm>
          <a:prstGeom prst="roundRect">
            <a:avLst>
              <a:gd name="adj" fmla="val 2532"/>
            </a:avLst>
          </a:prstGeom>
          <a:solidFill>
            <a:srgbClr val="F2F5FB"/>
          </a:solidFill>
          <a:ln/>
        </p:spPr>
      </p:sp>
      <p:sp>
        <p:nvSpPr>
          <p:cNvPr id="10" name="Text 8"/>
          <p:cNvSpPr/>
          <p:nvPr/>
        </p:nvSpPr>
        <p:spPr>
          <a:xfrm>
            <a:off x="8339328" y="1325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Ex-employee signals (public only)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339328" y="1755648"/>
            <a:ext cx="32461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Glassdoor ~3.5 (≈586 reviews), 65% recommend. Cons clusters: pay (“no bonus” theme), leadership quality, tech debt</a:t>
            </a:r>
            <a:endParaRPr lang="en-US" sz="92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“SHL Global layoffs 2025” content cluster exists but specifics are UNVERIFIED — do not assert 2025 layoffs as fact</a:t>
            </a:r>
            <a:endParaRPr lang="en-US" sz="92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stability is the counter-signal: CEO Bradshaw pre-dates the 2018 buyout; no exec churn found. No destabilizing event exists — build wedges on structure, not wobble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457200" y="65105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Mabry.Ai Signal Intelligence · run 2026-08-07 · cached/indexed sources — verify verbatim quotes before client use · INTERNAL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SHL — run-alongside plan &amp; MEDDPICC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440680" cy="5029200"/>
          </a:xfrm>
          <a:prstGeom prst="roundRect">
            <a:avLst>
              <a:gd name="adj" fmla="val 1818"/>
            </a:avLst>
          </a:prstGeom>
          <a:solidFill>
            <a:srgbClr val="E4F5F1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32588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FB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RUN-ALONGSIDE / ENTRY WEDGES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77240" y="1737360"/>
            <a:ext cx="502920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SHL contracts live in TA/procurement — enter through L&amp;D with TMA development, through Total Rewards with STYR, or through one high-turnover job family with a BrainsFirst funnel-yield pilot</a:t>
            </a:r>
            <a:endParaRPr lang="en-US" sz="1000" dirty="0"/>
          </a:p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pilot is the argument: completion rate, drop-off, time-to-complete, candidate NPS — head-to-head inside one job family; the data displaces, not the RFP</a:t>
            </a:r>
            <a:endParaRPr lang="en-US" sz="1000" dirty="0"/>
          </a:p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Displacement is a season-two conversation after pilot data lands. Clean coexistence paths exist everywhere</a:t>
            </a:r>
            <a:endParaRPr lang="en-US" sz="1000" dirty="0"/>
          </a:p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win outright: global enterprise standardization (35+ languages), litigation-hardened selection at scale, high-volume graduate/coding screening — concede those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199632" y="1143000"/>
            <a:ext cx="5440680" cy="5029200"/>
          </a:xfrm>
          <a:prstGeom prst="roundRect">
            <a:avLst>
              <a:gd name="adj" fmla="val 1818"/>
            </a:avLst>
          </a:prstGeom>
          <a:solidFill>
            <a:srgbClr val="F2F5FB"/>
          </a:solidFill>
          <a:ln/>
        </p:spPr>
      </p:sp>
      <p:sp>
        <p:nvSpPr>
          <p:cNvPr id="7" name="Text 5"/>
          <p:cNvSpPr/>
          <p:nvPr/>
        </p:nvSpPr>
        <p:spPr>
          <a:xfrm>
            <a:off x="6428232" y="132588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MEDDPICC ANGLES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28232" y="1737360"/>
            <a:ext cx="502920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completion rate, candidate drop-off, candidate NPS, time-from-report-to-action, cost per COMPLETED assessment incl. services. Bad hire ≈ 3x salary anchors the stakes</a:t>
            </a:r>
            <a:endParaRPr lang="en-US" sz="92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buyer: CHRO/VP TA holds the contract; CFO cares about the services line and renewal escalation; Total Rewards is a fresh buyer SHL never meets</a:t>
            </a:r>
            <a:endParaRPr lang="en-US" sz="92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criteria to install: candidate experience · same-day interpretability · integrated motivation-in-decision · Role-layer coverage — four criteria the incumbent structurally fails</a:t>
            </a:r>
            <a:endParaRPr lang="en-US" sz="92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pain: funnel leakage in high-volume hiring; reports sitting uninterpreted; pay-transparency deadlines with no vendor support</a:t>
            </a:r>
            <a:endParaRPr lang="en-US" sz="92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Champion: the TA leader losing candidates mid-battery; the L&amp;D leader whose budget buys dashboards; the Total Rewards lead facing transparency laws alone</a:t>
            </a:r>
            <a:endParaRPr lang="en-US" sz="92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Competition: expect the validity-library speech — pre-empt by concede-and-reframe BEFORE they present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Mabry.Ai Signal Intelligence · run 2026-08-07 · cached/indexed sources — verify verbatim quotes before client use · INTERNAL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SHL — landmines &amp; counter-FUD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landmines — never name the competitor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486400" cy="749808"/>
          </a:xfrm>
          <a:prstGeom prst="roundRect">
            <a:avLst>
              <a:gd name="adj" fmla="val 8537"/>
            </a:avLst>
          </a:prstGeom>
          <a:solidFill>
            <a:srgbClr val="F2F5FB"/>
          </a:solidFill>
          <a:ln/>
        </p:spPr>
      </p:sp>
      <p:sp>
        <p:nvSpPr>
          <p:cNvPr id="5" name="Shape 3"/>
          <p:cNvSpPr/>
          <p:nvPr/>
        </p:nvSpPr>
        <p:spPr>
          <a:xfrm>
            <a:off x="694944" y="1563624"/>
            <a:ext cx="274320" cy="274320"/>
          </a:xfrm>
          <a:prstGeom prst="ellipse">
            <a:avLst/>
          </a:prstGeom>
          <a:solidFill>
            <a:srgbClr val="141B2E"/>
          </a:solidFill>
          <a:ln/>
        </p:spPr>
      </p:sp>
      <p:sp>
        <p:nvSpPr>
          <p:cNvPr id="6" name="Text 4"/>
          <p:cNvSpPr/>
          <p:nvPr/>
        </p:nvSpPr>
        <p:spPr>
          <a:xfrm>
            <a:off x="694944" y="15636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078992" y="1371600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“When an assessment report comes back, who can act on it the same day — without routing through an I/O psychologist?”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548640" y="2167128"/>
            <a:ext cx="5486400" cy="749808"/>
          </a:xfrm>
          <a:prstGeom prst="roundRect">
            <a:avLst>
              <a:gd name="adj" fmla="val 8537"/>
            </a:avLst>
          </a:prstGeom>
          <a:solidFill>
            <a:srgbClr val="F2F5FB"/>
          </a:solidFill>
          <a:ln/>
        </p:spPr>
      </p:sp>
      <p:sp>
        <p:nvSpPr>
          <p:cNvPr id="9" name="Shape 7"/>
          <p:cNvSpPr/>
          <p:nvPr/>
        </p:nvSpPr>
        <p:spPr>
          <a:xfrm>
            <a:off x="694944" y="2404872"/>
            <a:ext cx="274320" cy="274320"/>
          </a:xfrm>
          <a:prstGeom prst="ellipse">
            <a:avLst/>
          </a:prstGeom>
          <a:solidFill>
            <a:srgbClr val="141B2E"/>
          </a:solidFill>
          <a:ln/>
        </p:spPr>
      </p:sp>
      <p:sp>
        <p:nvSpPr>
          <p:cNvPr id="10" name="Text 8"/>
          <p:cNvSpPr/>
          <p:nvPr/>
        </p:nvSpPr>
        <p:spPr>
          <a:xfrm>
            <a:off x="694944" y="2404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78992" y="2212848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“What’s your candidate completion rate on the current battery — and where does the funnel leak?”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548640" y="3008376"/>
            <a:ext cx="5486400" cy="749808"/>
          </a:xfrm>
          <a:prstGeom prst="roundRect">
            <a:avLst>
              <a:gd name="adj" fmla="val 8537"/>
            </a:avLst>
          </a:prstGeom>
          <a:solidFill>
            <a:srgbClr val="F2F5FB"/>
          </a:solidFill>
          <a:ln/>
        </p:spPr>
      </p:sp>
      <p:sp>
        <p:nvSpPr>
          <p:cNvPr id="13" name="Shape 11"/>
          <p:cNvSpPr/>
          <p:nvPr/>
        </p:nvSpPr>
        <p:spPr>
          <a:xfrm>
            <a:off x="694944" y="3246120"/>
            <a:ext cx="274320" cy="274320"/>
          </a:xfrm>
          <a:prstGeom prst="ellipse">
            <a:avLst/>
          </a:prstGeom>
          <a:solidFill>
            <a:srgbClr val="141B2E"/>
          </a:solidFill>
          <a:ln/>
        </p:spPr>
      </p:sp>
      <p:sp>
        <p:nvSpPr>
          <p:cNvPr id="14" name="Text 12"/>
          <p:cNvSpPr/>
          <p:nvPr/>
        </p:nvSpPr>
        <p:spPr>
          <a:xfrm>
            <a:off x="694944" y="3246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078992" y="3054096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“Your vendor’s own 2025 research says 74% of candidates judge you by the assessment. When did you last take your own battery?”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548640" y="3849624"/>
            <a:ext cx="5486400" cy="749808"/>
          </a:xfrm>
          <a:prstGeom prst="roundRect">
            <a:avLst>
              <a:gd name="adj" fmla="val 8537"/>
            </a:avLst>
          </a:prstGeom>
          <a:solidFill>
            <a:srgbClr val="F2F5FB"/>
          </a:solidFill>
          <a:ln/>
        </p:spPr>
      </p:sp>
      <p:sp>
        <p:nvSpPr>
          <p:cNvPr id="17" name="Shape 15"/>
          <p:cNvSpPr/>
          <p:nvPr/>
        </p:nvSpPr>
        <p:spPr>
          <a:xfrm>
            <a:off x="694944" y="4087368"/>
            <a:ext cx="274320" cy="274320"/>
          </a:xfrm>
          <a:prstGeom prst="ellipse">
            <a:avLst/>
          </a:prstGeom>
          <a:solidFill>
            <a:srgbClr val="141B2E"/>
          </a:solidFill>
          <a:ln/>
        </p:spPr>
      </p:sp>
      <p:sp>
        <p:nvSpPr>
          <p:cNvPr id="18" name="Text 16"/>
          <p:cNvSpPr/>
          <p:nvPr/>
        </p:nvSpPr>
        <p:spPr>
          <a:xfrm>
            <a:off x="694944" y="40873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078992" y="3895344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“Motivation and capability — one integrated decision, or two reports someone has to reconcile?”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548640" y="4690872"/>
            <a:ext cx="5486400" cy="749808"/>
          </a:xfrm>
          <a:prstGeom prst="roundRect">
            <a:avLst>
              <a:gd name="adj" fmla="val 8537"/>
            </a:avLst>
          </a:prstGeom>
          <a:solidFill>
            <a:srgbClr val="F2F5FB"/>
          </a:solidFill>
          <a:ln/>
        </p:spPr>
      </p:sp>
      <p:sp>
        <p:nvSpPr>
          <p:cNvPr id="21" name="Shape 19"/>
          <p:cNvSpPr/>
          <p:nvPr/>
        </p:nvSpPr>
        <p:spPr>
          <a:xfrm>
            <a:off x="694944" y="4928616"/>
            <a:ext cx="274320" cy="274320"/>
          </a:xfrm>
          <a:prstGeom prst="ellipse">
            <a:avLst/>
          </a:prstGeom>
          <a:solidFill>
            <a:srgbClr val="141B2E"/>
          </a:solidFill>
          <a:ln/>
        </p:spPr>
      </p:sp>
      <p:sp>
        <p:nvSpPr>
          <p:cNvPr id="22" name="Text 20"/>
          <p:cNvSpPr/>
          <p:nvPr/>
        </p:nvSpPr>
        <p:spPr>
          <a:xfrm>
            <a:off x="694944" y="49286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078992" y="4736592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“Who owns your job architecture and pay-equity readiness — and does your assessment vendor have any product for it, or just a referral?”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548640" y="5532120"/>
            <a:ext cx="5486400" cy="749808"/>
          </a:xfrm>
          <a:prstGeom prst="roundRect">
            <a:avLst>
              <a:gd name="adj" fmla="val 8537"/>
            </a:avLst>
          </a:prstGeom>
          <a:solidFill>
            <a:srgbClr val="F2F5FB"/>
          </a:solidFill>
          <a:ln/>
        </p:spPr>
      </p:sp>
      <p:sp>
        <p:nvSpPr>
          <p:cNvPr id="25" name="Shape 23"/>
          <p:cNvSpPr/>
          <p:nvPr/>
        </p:nvSpPr>
        <p:spPr>
          <a:xfrm>
            <a:off x="694944" y="5769864"/>
            <a:ext cx="274320" cy="274320"/>
          </a:xfrm>
          <a:prstGeom prst="ellipse">
            <a:avLst/>
          </a:prstGeom>
          <a:solidFill>
            <a:srgbClr val="141B2E"/>
          </a:solidFill>
          <a:ln/>
        </p:spPr>
      </p:sp>
      <p:sp>
        <p:nvSpPr>
          <p:cNvPr id="26" name="Text 24"/>
          <p:cNvSpPr/>
          <p:nvPr/>
        </p:nvSpPr>
        <p:spPr>
          <a:xfrm>
            <a:off x="694944" y="5769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078992" y="5577840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“At renewal, what changed in your per-candidate rate and your service level over the last three years?”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6400800" y="9326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They’ll say → you say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6400800" y="1325880"/>
            <a:ext cx="5239512" cy="603504"/>
          </a:xfrm>
          <a:prstGeom prst="roundRect">
            <a:avLst>
              <a:gd name="adj" fmla="val 10606"/>
            </a:avLst>
          </a:prstGeom>
          <a:solidFill>
            <a:srgbClr val="FBEAEA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0" y="1362456"/>
            <a:ext cx="4892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“We’re the science gold standard — 45M assessments, 45B datapoints.”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400800" y="2002536"/>
            <a:ext cx="5239512" cy="877824"/>
          </a:xfrm>
          <a:prstGeom prst="roundRect">
            <a:avLst>
              <a:gd name="adj" fmla="val 7292"/>
            </a:avLst>
          </a:prstGeom>
          <a:solidFill>
            <a:srgbClr val="E4F5F1"/>
          </a:solidFill>
          <a:ln/>
        </p:spPr>
      </p:sp>
      <p:sp>
        <p:nvSpPr>
          <p:cNvPr id="32" name="Text 30"/>
          <p:cNvSpPr/>
          <p:nvPr/>
        </p:nvSpPr>
        <p:spPr>
          <a:xfrm>
            <a:off x="6583680" y="2039112"/>
            <a:ext cx="4892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Concede the library. Validity of an instrument ≠ validity of your outcome — 1,500+ datapoints in a 45-minute game candidates finish beats a validity PDF they never see.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400800" y="3008376"/>
            <a:ext cx="5239512" cy="603504"/>
          </a:xfrm>
          <a:prstGeom prst="roundRect">
            <a:avLst>
              <a:gd name="adj" fmla="val 10606"/>
            </a:avLst>
          </a:prstGeom>
          <a:solidFill>
            <a:srgbClr val="FBEAEA"/>
          </a:solidFill>
          <a:ln/>
        </p:spPr>
      </p:sp>
      <p:sp>
        <p:nvSpPr>
          <p:cNvPr id="34" name="Text 32"/>
          <p:cNvSpPr/>
          <p:nvPr/>
        </p:nvSpPr>
        <p:spPr>
          <a:xfrm>
            <a:off x="6583680" y="3044952"/>
            <a:ext cx="4892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“One platform, everything integrated.”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400800" y="3685032"/>
            <a:ext cx="5239512" cy="877824"/>
          </a:xfrm>
          <a:prstGeom prst="roundRect">
            <a:avLst>
              <a:gd name="adj" fmla="val 7292"/>
            </a:avLst>
          </a:prstGeom>
          <a:solidFill>
            <a:srgbClr val="E4F5F1"/>
          </a:solidFill>
          <a:ln/>
        </p:spPr>
      </p:sp>
      <p:sp>
        <p:nvSpPr>
          <p:cNvPr id="36" name="Text 34"/>
          <p:cNvSpPr/>
          <p:nvPr/>
        </p:nvSpPr>
        <p:spPr>
          <a:xfrm>
            <a:off x="6583680" y="3721608"/>
            <a:ext cx="4892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catalog ≠ integrated insight. Motivation, personality, and ability are separate instruments whose synthesis needs their consultants.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400800" y="4690872"/>
            <a:ext cx="5239512" cy="603504"/>
          </a:xfrm>
          <a:prstGeom prst="roundRect">
            <a:avLst>
              <a:gd name="adj" fmla="val 10606"/>
            </a:avLst>
          </a:prstGeom>
          <a:solidFill>
            <a:srgbClr val="FBEAEA"/>
          </a:solidFill>
          <a:ln/>
        </p:spPr>
      </p:sp>
      <p:sp>
        <p:nvSpPr>
          <p:cNvPr id="38" name="Text 36"/>
          <p:cNvSpPr/>
          <p:nvPr/>
        </p:nvSpPr>
        <p:spPr>
          <a:xfrm>
            <a:off x="6583680" y="4727448"/>
            <a:ext cx="4892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safe EEOC/compliance choice.”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400800" y="5367528"/>
            <a:ext cx="5239512" cy="877824"/>
          </a:xfrm>
          <a:prstGeom prst="roundRect">
            <a:avLst>
              <a:gd name="adj" fmla="val 7292"/>
            </a:avLst>
          </a:prstGeom>
          <a:solidFill>
            <a:srgbClr val="E4F5F1"/>
          </a:solidFill>
          <a:ln/>
        </p:spPr>
      </p:sp>
      <p:sp>
        <p:nvSpPr>
          <p:cNvPr id="40" name="Text 38"/>
          <p:cNvSpPr/>
          <p:nvPr/>
        </p:nvSpPr>
        <p:spPr>
          <a:xfrm>
            <a:off x="6583680" y="5404104"/>
            <a:ext cx="4892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it — demand adverse-impact reporting from every vendor. Then note they sold their US federal assessment arm to Pearson in 2023.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57200" y="65105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Mabry.Ai Signal Intelligence · run 2026-08-07 · cached/indexed sources — verify verbatim quotes before client use · INTERNAL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77640" cy="6858000"/>
          </a:xfrm>
          <a:prstGeom prst="rect">
            <a:avLst/>
          </a:prstGeom>
          <a:solidFill>
            <a:srgbClr val="141B2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457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B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BATTLECARD · THREAT #8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11480" y="7772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Syndio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1691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synd.io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20574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B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— STYR leads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11480" y="26060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9D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 Run-alongside is the default: build the architecture beneath their audit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1480" y="3337560"/>
            <a:ext cx="3246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~$83M raised · no priced round since 2021</a:t>
            </a:r>
            <a:endParaRPr lang="en-US" sz="100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~170 employees; Glassdoor 2.3/5 (69 reviews, 28% recommend)</a:t>
            </a:r>
            <a:endParaRPr lang="en-US" sz="100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Pivot: “AI-Powered Pay Governance” + Syndi agents (Oct 2025)</a:t>
            </a:r>
            <a:endParaRPr lang="en-US" sz="100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Mercer alliance May 2026 routes structure work OUT</a:t>
            </a:r>
            <a:endParaRPr lang="en-US" sz="100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350+ enterprise claim; ~5 public G2 reviews</a:t>
            </a:r>
            <a:endParaRPr lang="en-US" sz="100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Privilege-compatible audit workflow = the real moat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343400" y="41148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two-minute read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343400" y="960120"/>
            <a:ext cx="75438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Pay-equity category creator — analyzes pay on top of a job architecture it cannot build</a:t>
            </a:r>
            <a:endParaRPr lang="en-US" sz="115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own blog: client architectures “not good enough” for equal-value comparison</a:t>
            </a:r>
            <a:endParaRPr lang="en-US" sz="115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 = recurring pay adjustments; broken structure regenerates gaps — and renews the subscription</a:t>
            </a:r>
            <a:endParaRPr lang="en-US" sz="115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 EU right-to-information: employees get written pay explanations — a gap statistic is not an explanation</a:t>
            </a:r>
            <a:endParaRPr lang="en-US" sz="115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attack the privileged audit — sell the layer beneath it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43400" y="4160520"/>
            <a:ext cx="3703320" cy="2148840"/>
          </a:xfrm>
          <a:prstGeom prst="roundRect">
            <a:avLst>
              <a:gd name="adj" fmla="val 3830"/>
            </a:avLst>
          </a:prstGeom>
          <a:solidFill>
            <a:srgbClr val="FBEAE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43159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THEY WIN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0" y="4645152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5A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Privileged audits at enterprises with existing mature architecture</a:t>
            </a:r>
            <a:endParaRPr lang="en-US" sz="98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5A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Litigation / regulator-triggered urgency (“litigation-tested” is the criterion)</a:t>
            </a:r>
            <a:endParaRPr lang="en-US" sz="98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5A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Multi-country statutory reporting at scale (Global Pay Reports)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8211312" y="4160520"/>
            <a:ext cx="3703320" cy="2148840"/>
          </a:xfrm>
          <a:prstGeom prst="roundRect">
            <a:avLst>
              <a:gd name="adj" fmla="val 3830"/>
            </a:avLst>
          </a:prstGeom>
          <a:solidFill>
            <a:srgbClr val="E4F5F1"/>
          </a:solidFill>
          <a:ln/>
        </p:spPr>
      </p:sp>
      <p:sp>
        <p:nvSpPr>
          <p:cNvPr id="15" name="Text 13"/>
          <p:cNvSpPr/>
          <p:nvPr/>
        </p:nvSpPr>
        <p:spPr>
          <a:xfrm>
            <a:off x="8439912" y="43159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FB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BEAT THEM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439912" y="4645152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“Keep Syndio for the audit; STYR builds the architecture its analytics need”</a:t>
            </a:r>
            <a:endParaRPr lang="en-US" sz="98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own equal-value admission is the door-opener — quote it</a:t>
            </a:r>
            <a:endParaRPr lang="en-US" sz="98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right-to-information: sell the explanation layer, not the gap report</a:t>
            </a:r>
            <a:endParaRPr lang="en-US" sz="98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 fatigue: the CFO asks why the closure budget recurs annually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4343400" y="651052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Mabry.Ai Signal Intelligence · run 2026-08-07 · cached/indexed sources — verify verbatim quotes before client use · INTERNAL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Syndio — positioning &amp; narrative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87782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criteria they install, the criteria they avoid, and the lines they hand us.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4892040"/>
          </a:xfrm>
          <a:prstGeom prst="roundRect">
            <a:avLst>
              <a:gd name="adj" fmla="val 1869"/>
            </a:avLst>
          </a:prstGeom>
          <a:solidFill>
            <a:srgbClr val="F2F5FB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00200"/>
            <a:ext cx="1046988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 shifted 2025–26: from “workplace equity platform” to “AI-Powered Pay Governance / Decision Intelligence for Pay.” Syndi agents (Oct 27, 2025) with deterministic pay-philosophy rules and a proprietary Decision Graph; Embrace.ai acqui-hire Jun 2026.</a:t>
            </a:r>
            <a:endParaRPr lang="en-US" sz="1150" dirty="0"/>
          </a:p>
          <a:p>
            <a:pPr marL="101600" indent="-1016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Suite: PayEQ (always-on pay-equity regression, privilege-compatible), OppEQ (opportunity analytics — measures mobility outcomes, doesn’t build career structures), Pay Finder, Global Pay Reports (~35–43 jurisdictions), EU-directive features (right-to-information workflow, gap budgeting).</a:t>
            </a:r>
            <a:endParaRPr lang="en-US" sz="1150" dirty="0"/>
          </a:p>
          <a:p>
            <a:pPr marL="101600" indent="-1016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 they install: litigation-tested statistics, attorney-client privilege, continuous monitoring, statutory reporting breadth, board dashboards, AI agents.</a:t>
            </a:r>
            <a:endParaRPr lang="en-US" sz="1150" dirty="0"/>
          </a:p>
          <a:p>
            <a:pPr marL="101600" indent="-1016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 they avoid: who builds the job architecture; whether gaps regenerate when structure is broken; what grouping quality the regression inherits; mid-market service reality.</a:t>
            </a:r>
            <a:endParaRPr lang="en-US" sz="1150" dirty="0"/>
          </a:p>
          <a:p>
            <a:pPr marL="101600" indent="-1016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self-inflicted admission (centerpiece): their blog concedes “some clients are learning that their job architecture is not good enough to make pay comparisons for ‘work of equal value’” — and the May 2026 Mercer alliance is the confession they have no product for it.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Mabry.Ai Signal Intelligence · run 2026-08-07 · cached/indexed sources — verify verbatim quotes before client use · INTERNAL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Syndio — feature matrix vs. the stack</a:t>
            </a:r>
            <a:endParaRPr lang="en-US" sz="25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11091672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4663440"/>
                <a:gridCol w="409651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Syndio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TMA Performance stack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Pay-equity regression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— their fortress: multivariate, configurable, privilege-compatible, litigation-tested claim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745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STYR: analysis grounded in structure it built — don’t attack the audit; sell beneath it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Privilege workflow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and differentiated; GC is a co-buyer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745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equivalent — concede for legal-driven enterprise audits. The one thing never to contest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Statutory reporting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Pay Reports — genuinely differentiated at dozens-of-countries scale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745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Concede for multinationals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 architecture construction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— no leveling engine, no gender-neutral factor model; blog tells customers to DIY or hire consultants; Mercer alliance routes the work out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745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STYR — uncontested; their own admission is the door-opener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Career paths / mobility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— OppEQ measures promotion disparities, can’t create the paths that fix them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745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STYR + TMA development — pull-through wedge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Pay-progression explainability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One-click response workflow — generates the letter, not the logic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745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STYR: structure makes pay explainable BY DESIGN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Remediation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Pay-adjustment budgeting — which employees, what cost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745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Structural remediation — rebuild so gaps stop regenerating; treadmill vs cure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 / Fit / Experience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Nothing — zero collision outside Role analytics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745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TMA, BrainsFirst, DecisionWise — uncontested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5105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Mabry.Ai Signal Intelligence · run 2026-08-07 · cached/indexed sources — verify verbatim quotes before client use · INTERNAL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Syndio — exploitable gaps (full ranked list)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87782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first, then the move. Confidence tags in the battlecard.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5486400" cy="1572768"/>
          </a:xfrm>
          <a:prstGeom prst="roundRect">
            <a:avLst>
              <a:gd name="adj" fmla="val 5233"/>
            </a:avLst>
          </a:prstGeom>
          <a:solidFill>
            <a:srgbClr val="F2F5FB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444752"/>
            <a:ext cx="310896" cy="310896"/>
          </a:xfrm>
          <a:prstGeom prst="ellipse">
            <a:avLst/>
          </a:prstGeom>
          <a:solidFill>
            <a:srgbClr val="2FB7A4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444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33856" y="1408176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job-architecture construction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68096" y="1828800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leveling engine, no gender-neutral factor model, no grading product; Mercer/Kognitiv/Strada carry the structure work.</a:t>
            </a:r>
            <a:endParaRPr lang="en-US" sz="860" dirty="0"/>
          </a:p>
        </p:txBody>
      </p:sp>
      <p:sp>
        <p:nvSpPr>
          <p:cNvPr id="9" name="Text 7"/>
          <p:cNvSpPr/>
          <p:nvPr/>
        </p:nvSpPr>
        <p:spPr>
          <a:xfrm>
            <a:off x="768096" y="2414016"/>
            <a:ext cx="5074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i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“Who certified that your job groupings survive an equal-value challenge — in what document?”</a:t>
            </a:r>
            <a:endParaRPr lang="en-US" sz="860" dirty="0"/>
          </a:p>
        </p:txBody>
      </p:sp>
      <p:sp>
        <p:nvSpPr>
          <p:cNvPr id="10" name="Shape 8"/>
          <p:cNvSpPr/>
          <p:nvPr/>
        </p:nvSpPr>
        <p:spPr>
          <a:xfrm>
            <a:off x="6263640" y="1298448"/>
            <a:ext cx="5486400" cy="1572768"/>
          </a:xfrm>
          <a:prstGeom prst="roundRect">
            <a:avLst>
              <a:gd name="adj" fmla="val 5233"/>
            </a:avLst>
          </a:prstGeom>
          <a:solidFill>
            <a:srgbClr val="F2F5FB"/>
          </a:solidFill>
          <a:ln/>
        </p:spPr>
      </p:sp>
      <p:sp>
        <p:nvSpPr>
          <p:cNvPr id="11" name="Shape 9"/>
          <p:cNvSpPr/>
          <p:nvPr/>
        </p:nvSpPr>
        <p:spPr>
          <a:xfrm>
            <a:off x="6428232" y="1444752"/>
            <a:ext cx="310896" cy="310896"/>
          </a:xfrm>
          <a:prstGeom prst="ellipse">
            <a:avLst/>
          </a:prstGeom>
          <a:solidFill>
            <a:srgbClr val="2FB7A4"/>
          </a:solidFill>
          <a:ln/>
        </p:spPr>
      </p:sp>
      <p:sp>
        <p:nvSpPr>
          <p:cNvPr id="12" name="Text 10"/>
          <p:cNvSpPr/>
          <p:nvPr/>
        </p:nvSpPr>
        <p:spPr>
          <a:xfrm>
            <a:off x="6428232" y="1444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48856" y="1408176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statistics ≠ pay explanations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83096" y="1828800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Right-to-information workflow generates the letter, not the logic; directive demands objective, gender-neutral progression criteria.</a:t>
            </a:r>
            <a:endParaRPr lang="en-US" sz="860" dirty="0"/>
          </a:p>
        </p:txBody>
      </p:sp>
      <p:sp>
        <p:nvSpPr>
          <p:cNvPr id="15" name="Text 13"/>
          <p:cNvSpPr/>
          <p:nvPr/>
        </p:nvSpPr>
        <p:spPr>
          <a:xfrm>
            <a:off x="6483096" y="2414016"/>
            <a:ext cx="5074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i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“Reporting a gap you can’t explain is publishing your own liability.”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548640" y="2999232"/>
            <a:ext cx="5486400" cy="1572768"/>
          </a:xfrm>
          <a:prstGeom prst="roundRect">
            <a:avLst>
              <a:gd name="adj" fmla="val 5233"/>
            </a:avLst>
          </a:prstGeom>
          <a:solidFill>
            <a:srgbClr val="F2F5FB"/>
          </a:solidFill>
          <a:ln/>
        </p:spPr>
      </p:sp>
      <p:sp>
        <p:nvSpPr>
          <p:cNvPr id="17" name="Shape 15"/>
          <p:cNvSpPr/>
          <p:nvPr/>
        </p:nvSpPr>
        <p:spPr>
          <a:xfrm>
            <a:off x="713232" y="3145536"/>
            <a:ext cx="310896" cy="310896"/>
          </a:xfrm>
          <a:prstGeom prst="ellipse">
            <a:avLst/>
          </a:prstGeom>
          <a:solidFill>
            <a:srgbClr val="2FB7A4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33856" y="310896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remediation treadmill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68096" y="3529584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Adjustment-based remediation on a broken structure re-finds the same gaps every cycle — which renews the subscription.</a:t>
            </a:r>
            <a:endParaRPr lang="en-US" sz="860" dirty="0"/>
          </a:p>
        </p:txBody>
      </p:sp>
      <p:sp>
        <p:nvSpPr>
          <p:cNvPr id="21" name="Text 19"/>
          <p:cNvSpPr/>
          <p:nvPr/>
        </p:nvSpPr>
        <p:spPr>
          <a:xfrm>
            <a:off x="768096" y="4114800"/>
            <a:ext cx="5074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i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durable structure as the way off the treadmill — a CFO conversation.</a:t>
            </a:r>
            <a:endParaRPr lang="en-US" sz="860" dirty="0"/>
          </a:p>
        </p:txBody>
      </p:sp>
      <p:sp>
        <p:nvSpPr>
          <p:cNvPr id="22" name="Shape 20"/>
          <p:cNvSpPr/>
          <p:nvPr/>
        </p:nvSpPr>
        <p:spPr>
          <a:xfrm>
            <a:off x="6263640" y="2999232"/>
            <a:ext cx="5486400" cy="1572768"/>
          </a:xfrm>
          <a:prstGeom prst="roundRect">
            <a:avLst>
              <a:gd name="adj" fmla="val 5233"/>
            </a:avLst>
          </a:prstGeom>
          <a:solidFill>
            <a:srgbClr val="F2F5FB"/>
          </a:solidFill>
          <a:ln/>
        </p:spPr>
      </p:sp>
      <p:sp>
        <p:nvSpPr>
          <p:cNvPr id="23" name="Shape 21"/>
          <p:cNvSpPr/>
          <p:nvPr/>
        </p:nvSpPr>
        <p:spPr>
          <a:xfrm>
            <a:off x="6428232" y="3145536"/>
            <a:ext cx="310896" cy="310896"/>
          </a:xfrm>
          <a:prstGeom prst="ellipse">
            <a:avLst/>
          </a:prstGeom>
          <a:solidFill>
            <a:srgbClr val="2FB7A4"/>
          </a:solidFill>
          <a:ln/>
        </p:spPr>
      </p:sp>
      <p:sp>
        <p:nvSpPr>
          <p:cNvPr id="24" name="Text 22"/>
          <p:cNvSpPr/>
          <p:nvPr/>
        </p:nvSpPr>
        <p:spPr>
          <a:xfrm>
            <a:off x="642823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48856" y="310896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fragility as procurement risk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483096" y="3529584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Glassdoor 2.3; “annual layoffs”; QA org eliminated; no funding round in ~5 years; AI pivot on a skeleton crew.</a:t>
            </a:r>
            <a:endParaRPr lang="en-US" sz="860" dirty="0"/>
          </a:p>
        </p:txBody>
      </p:sp>
      <p:sp>
        <p:nvSpPr>
          <p:cNvPr id="27" name="Text 25"/>
          <p:cNvSpPr/>
          <p:nvPr/>
        </p:nvSpPr>
        <p:spPr>
          <a:xfrm>
            <a:off x="6483096" y="4114800"/>
            <a:ext cx="5074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i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Late-stage question only: “What engineering capacity backs a 3-year commitment if the AI pivot stalls?”</a:t>
            </a:r>
            <a:endParaRPr lang="en-US" sz="860" dirty="0"/>
          </a:p>
        </p:txBody>
      </p:sp>
      <p:sp>
        <p:nvSpPr>
          <p:cNvPr id="28" name="Shape 26"/>
          <p:cNvSpPr/>
          <p:nvPr/>
        </p:nvSpPr>
        <p:spPr>
          <a:xfrm>
            <a:off x="548640" y="4700016"/>
            <a:ext cx="5486400" cy="1572768"/>
          </a:xfrm>
          <a:prstGeom prst="roundRect">
            <a:avLst>
              <a:gd name="adj" fmla="val 5233"/>
            </a:avLst>
          </a:prstGeom>
          <a:solidFill>
            <a:srgbClr val="F2F5FB"/>
          </a:solidFill>
          <a:ln/>
        </p:spPr>
      </p:sp>
      <p:sp>
        <p:nvSpPr>
          <p:cNvPr id="29" name="Shape 27"/>
          <p:cNvSpPr/>
          <p:nvPr/>
        </p:nvSpPr>
        <p:spPr>
          <a:xfrm>
            <a:off x="713232" y="4846320"/>
            <a:ext cx="310896" cy="310896"/>
          </a:xfrm>
          <a:prstGeom prst="ellipse">
            <a:avLst/>
          </a:prstGeom>
          <a:solidFill>
            <a:srgbClr val="2FB7A4"/>
          </a:solidFill>
          <a:ln/>
        </p:spPr>
      </p:sp>
      <p:sp>
        <p:nvSpPr>
          <p:cNvPr id="30" name="Text 28"/>
          <p:cNvSpPr/>
          <p:nvPr/>
        </p:nvSpPr>
        <p:spPr>
          <a:xfrm>
            <a:off x="713232" y="4846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33856" y="4809744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Career-structure pull-through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68096" y="5230368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OppEQ surfaces promotion-rate disparities by demographic; no career-pathing product exists to act on them.</a:t>
            </a:r>
            <a:endParaRPr lang="en-US" sz="860" dirty="0"/>
          </a:p>
        </p:txBody>
      </p:sp>
      <p:sp>
        <p:nvSpPr>
          <p:cNvPr id="33" name="Text 31"/>
          <p:cNvSpPr/>
          <p:nvPr/>
        </p:nvSpPr>
        <p:spPr>
          <a:xfrm>
            <a:off x="768096" y="5815584"/>
            <a:ext cx="5074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i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own dashboard generates the demand STYR fulfills.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6263640" y="4700016"/>
            <a:ext cx="5486400" cy="1572768"/>
          </a:xfrm>
          <a:prstGeom prst="roundRect">
            <a:avLst>
              <a:gd name="adj" fmla="val 5233"/>
            </a:avLst>
          </a:prstGeom>
          <a:solidFill>
            <a:srgbClr val="F2F5FB"/>
          </a:solidFill>
          <a:ln/>
        </p:spPr>
      </p:sp>
      <p:sp>
        <p:nvSpPr>
          <p:cNvPr id="35" name="Shape 33"/>
          <p:cNvSpPr/>
          <p:nvPr/>
        </p:nvSpPr>
        <p:spPr>
          <a:xfrm>
            <a:off x="6428232" y="4846320"/>
            <a:ext cx="310896" cy="310896"/>
          </a:xfrm>
          <a:prstGeom prst="ellipse">
            <a:avLst/>
          </a:prstGeom>
          <a:solidFill>
            <a:srgbClr val="2FB7A4"/>
          </a:solidFill>
          <a:ln/>
        </p:spPr>
      </p:sp>
      <p:sp>
        <p:nvSpPr>
          <p:cNvPr id="36" name="Text 34"/>
          <p:cNvSpPr/>
          <p:nvPr/>
        </p:nvSpPr>
        <p:spPr>
          <a:xfrm>
            <a:off x="6428232" y="4846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848856" y="4809744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Mid-market misfit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483096" y="5230368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Fortune-500 framing in third-party guides; GC-involved enterprise sales; our ICP’s lean HR teams have no in-house labor economist to drive the tool.</a:t>
            </a:r>
            <a:endParaRPr lang="en-US" sz="860" dirty="0"/>
          </a:p>
        </p:txBody>
      </p:sp>
      <p:sp>
        <p:nvSpPr>
          <p:cNvPr id="39" name="Text 37"/>
          <p:cNvSpPr/>
          <p:nvPr/>
        </p:nvSpPr>
        <p:spPr>
          <a:xfrm>
            <a:off x="6483096" y="5815584"/>
            <a:ext cx="5074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i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Right-sized Role-layer build that hands the org an artifact (matrix, ranges, career paths) it can run itself.</a:t>
            </a:r>
            <a:endParaRPr lang="en-US" sz="860" dirty="0"/>
          </a:p>
        </p:txBody>
      </p:sp>
      <p:sp>
        <p:nvSpPr>
          <p:cNvPr id="40" name="Text 38"/>
          <p:cNvSpPr/>
          <p:nvPr/>
        </p:nvSpPr>
        <p:spPr>
          <a:xfrm>
            <a:off x="457200" y="65105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Mabry.Ai Signal Intelligence · run 2026-08-07 · cached/indexed sources — verify verbatim quotes before client use · INTERNAL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Syndio — pricing, complaints, ex-employee signals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3611880" cy="5029200"/>
          </a:xfrm>
          <a:prstGeom prst="roundRect">
            <a:avLst>
              <a:gd name="adj" fmla="val 2532"/>
            </a:avLst>
          </a:prstGeom>
          <a:solidFill>
            <a:srgbClr val="F2F5FB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1325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signals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49808" y="1755648"/>
            <a:ext cx="32461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published pricing; enterprise subscription by headcount + modules; third-party guesses $10–25 PEPM + $10–40K implementation — Vendr blocked, NO verified ACV; flag every figure as unverified</a:t>
            </a:r>
            <a:endParaRPr lang="en-US" sz="92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 read for a 5K-employee org: low-to-mid six figures multi-year</a:t>
            </a:r>
            <a:endParaRPr lang="en-US" sz="92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line items: outside counsel (privilege runs through the customer’s law firm) + Mercer/Kognitiv/Strada fees for the structure work Syndio can’t do</a:t>
            </a:r>
            <a:endParaRPr lang="en-US" sz="92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Posture: no round since 2021 + capital-efficiency mode = revenue pressure; expect multi-year flexibility and hard Syndi-module attach pressure (inference)</a:t>
            </a:r>
            <a:endParaRPr lang="en-US" sz="920" dirty="0"/>
          </a:p>
        </p:txBody>
      </p:sp>
      <p:sp>
        <p:nvSpPr>
          <p:cNvPr id="6" name="Shape 4"/>
          <p:cNvSpPr/>
          <p:nvPr/>
        </p:nvSpPr>
        <p:spPr>
          <a:xfrm>
            <a:off x="4343400" y="1143000"/>
            <a:ext cx="3611880" cy="5029200"/>
          </a:xfrm>
          <a:prstGeom prst="roundRect">
            <a:avLst>
              <a:gd name="adj" fmla="val 2532"/>
            </a:avLst>
          </a:prstGeom>
          <a:solidFill>
            <a:srgbClr val="F2F5FB"/>
          </a:solidFill>
          <a:ln/>
        </p:spPr>
      </p:sp>
      <p:sp>
        <p:nvSpPr>
          <p:cNvPr id="7" name="Text 5"/>
          <p:cNvSpPr/>
          <p:nvPr/>
        </p:nvSpPr>
        <p:spPr>
          <a:xfrm>
            <a:off x="4544568" y="1325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complaints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44568" y="1755648"/>
            <a:ext cx="32461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caveat first: ~5 G2 reviews for 350+ claimed enterprises — NO theme clears the 3-source bar; everything is directional</a:t>
            </a:r>
            <a:endParaRPr lang="en-US" sz="92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surfaces is positive: service, expertise, analytics depth praised by the few reviewers</a:t>
            </a:r>
            <a:endParaRPr lang="en-US" sz="92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absence itself is the talking point: the buyer cannot independently validate at-scale satisfaction — demand named references at their size and vertical</a:t>
            </a:r>
            <a:endParaRPr lang="en-US" sz="92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comp-community channels (WorldatWork circles) as 2027 EU reporting season approaches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8138160" y="1143000"/>
            <a:ext cx="3611880" cy="5029200"/>
          </a:xfrm>
          <a:prstGeom prst="roundRect">
            <a:avLst>
              <a:gd name="adj" fmla="val 2532"/>
            </a:avLst>
          </a:prstGeom>
          <a:solidFill>
            <a:srgbClr val="F2F5FB"/>
          </a:solidFill>
          <a:ln/>
        </p:spPr>
      </p:sp>
      <p:sp>
        <p:nvSpPr>
          <p:cNvPr id="10" name="Text 8"/>
          <p:cNvSpPr/>
          <p:nvPr/>
        </p:nvSpPr>
        <p:spPr>
          <a:xfrm>
            <a:off x="8339328" y="1325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Ex-employee signals (public only)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339328" y="1755648"/>
            <a:ext cx="32461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Glassdoor 2.3/5 across 69 reviews; 28% recommend; 27% positive outlook (≈40 points below industry average)</a:t>
            </a:r>
            <a:endParaRPr lang="en-US" sz="92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Themes: “annual layoffs”; a ~40-person cut leaving a “skeleton crew”; entire QA org eliminated; engineering backfilled with contractors; “mass layoff after a pulse-check survey” (anonymous; numbers unconfirmed)</a:t>
            </a:r>
            <a:endParaRPr lang="en-US" sz="92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Read-through (inference): AI pivot + acqui-hire + Mercer channel + no Series D + deep cuts = converging on capital efficiency and positioning for exit or re-rating, with engineering thinner than the brand suggests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457200" y="65105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Mabry.Ai Signal Intelligence · run 2026-08-07 · cached/indexed sources — verify verbatim quotes before client use · INTERNAL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8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Syndio — run-alongside plan &amp; MEDDPICC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440680" cy="5029200"/>
          </a:xfrm>
          <a:prstGeom prst="roundRect">
            <a:avLst>
              <a:gd name="adj" fmla="val 1818"/>
            </a:avLst>
          </a:prstGeom>
          <a:solidFill>
            <a:srgbClr val="E4F5F1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32588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FB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RUN-ALONGSIDE / ENTRY WEDGES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77240" y="1737360"/>
            <a:ext cx="502920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Run-alongside IS the default motion, not a fallback: “Keep Syndio for the privileged annual audit; STYR builds the job architecture and transparent salary structures its analytics need”</a:t>
            </a:r>
            <a:endParaRPr lang="en-US" sz="1000" dirty="0"/>
          </a:p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STYR’s output literally improves Syndio’s regression groupings — the pitch makes their tool better, which disarms the incumbent defense entirely</a:t>
            </a:r>
            <a:endParaRPr lang="en-US" sz="1000" dirty="0"/>
          </a:p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right-to-information (Jun 2026): employees get written pay explanations within 2 months — a gap statistic is not an explanation; sell the explanation layer. US state transparency laws create the same pressure domestically</a:t>
            </a:r>
            <a:endParaRPr lang="en-US" sz="1000" dirty="0"/>
          </a:p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Displacement is rare, unnecessary, and only worth discussing after remediation fatigue sets in (2–3 audit cycles)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199632" y="1143000"/>
            <a:ext cx="5440680" cy="5029200"/>
          </a:xfrm>
          <a:prstGeom prst="roundRect">
            <a:avLst>
              <a:gd name="adj" fmla="val 1818"/>
            </a:avLst>
          </a:prstGeom>
          <a:solidFill>
            <a:srgbClr val="F2F5FB"/>
          </a:solidFill>
          <a:ln/>
        </p:spPr>
      </p:sp>
      <p:sp>
        <p:nvSpPr>
          <p:cNvPr id="7" name="Text 5"/>
          <p:cNvSpPr/>
          <p:nvPr/>
        </p:nvSpPr>
        <p:spPr>
          <a:xfrm>
            <a:off x="6428232" y="132588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MEDDPICC ANGLES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28232" y="1737360"/>
            <a:ext cx="502920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recurring gap-remediation spend per cycle · outside-counsel + consulting spend around the audit · time to produce a defensible written pay explanation · % of roles with documented leveling criteria. Senior exit 50–200% of salary anchors retention</a:t>
            </a:r>
            <a:endParaRPr lang="en-US" sz="92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buyer: Total Rewards holds the contract with the GC as co-buyer; the CFO owns the recurring remediation budget — the treadmill line item is the CFO conversation</a:t>
            </a:r>
            <a:endParaRPr lang="en-US" sz="92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criteria to install: constructs gender-neutral architecture · explains individual pay progression · ends recurring remediation — three criteria the incumbent structurally fails</a:t>
            </a:r>
            <a:endParaRPr lang="en-US" sz="92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process: complement-first positioning = no displacement decision required — shorter cycle, no GC loyalty fight</a:t>
            </a:r>
            <a:endParaRPr lang="en-US" sz="92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Champion: the comp lead tired of explaining recurring gaps to the board; the HRBP fielding pay questions with no structure to point to</a:t>
            </a:r>
            <a:endParaRPr lang="en-US" sz="92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Competition: pre-empt the litigation-tested speech with their own equal-value admission and the Mercer alliance — they conceded the point in writing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Mabry.Ai Signal Intelligence · run 2026-08-07 · cached/indexed sources — verify verbatim quotes before client use · INTERNAL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Syndio — landmines &amp; counter-FUD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landmines — never name the competitor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486400" cy="749808"/>
          </a:xfrm>
          <a:prstGeom prst="roundRect">
            <a:avLst>
              <a:gd name="adj" fmla="val 8537"/>
            </a:avLst>
          </a:prstGeom>
          <a:solidFill>
            <a:srgbClr val="F2F5FB"/>
          </a:solidFill>
          <a:ln/>
        </p:spPr>
      </p:sp>
      <p:sp>
        <p:nvSpPr>
          <p:cNvPr id="5" name="Shape 3"/>
          <p:cNvSpPr/>
          <p:nvPr/>
        </p:nvSpPr>
        <p:spPr>
          <a:xfrm>
            <a:off x="694944" y="1563624"/>
            <a:ext cx="274320" cy="274320"/>
          </a:xfrm>
          <a:prstGeom prst="ellipse">
            <a:avLst/>
          </a:prstGeom>
          <a:solidFill>
            <a:srgbClr val="141B2E"/>
          </a:solidFill>
          <a:ln/>
        </p:spPr>
      </p:sp>
      <p:sp>
        <p:nvSpPr>
          <p:cNvPr id="6" name="Text 4"/>
          <p:cNvSpPr/>
          <p:nvPr/>
        </p:nvSpPr>
        <p:spPr>
          <a:xfrm>
            <a:off x="694944" y="15636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078992" y="1371600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“Before the last audit ran, who certified your job groupings would survive an equal-value challenge?”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548640" y="2167128"/>
            <a:ext cx="5486400" cy="749808"/>
          </a:xfrm>
          <a:prstGeom prst="roundRect">
            <a:avLst>
              <a:gd name="adj" fmla="val 8537"/>
            </a:avLst>
          </a:prstGeom>
          <a:solidFill>
            <a:srgbClr val="F2F5FB"/>
          </a:solidFill>
          <a:ln/>
        </p:spPr>
      </p:sp>
      <p:sp>
        <p:nvSpPr>
          <p:cNvPr id="9" name="Shape 7"/>
          <p:cNvSpPr/>
          <p:nvPr/>
        </p:nvSpPr>
        <p:spPr>
          <a:xfrm>
            <a:off x="694944" y="2404872"/>
            <a:ext cx="274320" cy="274320"/>
          </a:xfrm>
          <a:prstGeom prst="ellipse">
            <a:avLst/>
          </a:prstGeom>
          <a:solidFill>
            <a:srgbClr val="141B2E"/>
          </a:solidFill>
          <a:ln/>
        </p:spPr>
      </p:sp>
      <p:sp>
        <p:nvSpPr>
          <p:cNvPr id="10" name="Text 8"/>
          <p:cNvSpPr/>
          <p:nvPr/>
        </p:nvSpPr>
        <p:spPr>
          <a:xfrm>
            <a:off x="694944" y="2404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78992" y="2212848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“When an employee requests a written pay explanation, what do you send — a statistic, or the criteria their pay follows?”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548640" y="3008376"/>
            <a:ext cx="5486400" cy="749808"/>
          </a:xfrm>
          <a:prstGeom prst="roundRect">
            <a:avLst>
              <a:gd name="adj" fmla="val 8537"/>
            </a:avLst>
          </a:prstGeom>
          <a:solidFill>
            <a:srgbClr val="F2F5FB"/>
          </a:solidFill>
          <a:ln/>
        </p:spPr>
      </p:sp>
      <p:sp>
        <p:nvSpPr>
          <p:cNvPr id="13" name="Shape 11"/>
          <p:cNvSpPr/>
          <p:nvPr/>
        </p:nvSpPr>
        <p:spPr>
          <a:xfrm>
            <a:off x="694944" y="3246120"/>
            <a:ext cx="274320" cy="274320"/>
          </a:xfrm>
          <a:prstGeom prst="ellipse">
            <a:avLst/>
          </a:prstGeom>
          <a:solidFill>
            <a:srgbClr val="141B2E"/>
          </a:solidFill>
          <a:ln/>
        </p:spPr>
      </p:sp>
      <p:sp>
        <p:nvSpPr>
          <p:cNvPr id="14" name="Text 12"/>
          <p:cNvSpPr/>
          <p:nvPr/>
        </p:nvSpPr>
        <p:spPr>
          <a:xfrm>
            <a:off x="694944" y="3246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078992" y="3054096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did gap remediation cost the last two cycles — and what would make that line stop recurring?”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548640" y="3849624"/>
            <a:ext cx="5486400" cy="749808"/>
          </a:xfrm>
          <a:prstGeom prst="roundRect">
            <a:avLst>
              <a:gd name="adj" fmla="val 8537"/>
            </a:avLst>
          </a:prstGeom>
          <a:solidFill>
            <a:srgbClr val="F2F5FB"/>
          </a:solidFill>
          <a:ln/>
        </p:spPr>
      </p:sp>
      <p:sp>
        <p:nvSpPr>
          <p:cNvPr id="17" name="Shape 15"/>
          <p:cNvSpPr/>
          <p:nvPr/>
        </p:nvSpPr>
        <p:spPr>
          <a:xfrm>
            <a:off x="694944" y="4087368"/>
            <a:ext cx="274320" cy="274320"/>
          </a:xfrm>
          <a:prstGeom prst="ellipse">
            <a:avLst/>
          </a:prstGeom>
          <a:solidFill>
            <a:srgbClr val="141B2E"/>
          </a:solidFill>
          <a:ln/>
        </p:spPr>
      </p:sp>
      <p:sp>
        <p:nvSpPr>
          <p:cNvPr id="18" name="Text 16"/>
          <p:cNvSpPr/>
          <p:nvPr/>
        </p:nvSpPr>
        <p:spPr>
          <a:xfrm>
            <a:off x="694944" y="40873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078992" y="3895344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“Your opportunity dashboard shows promotion disparities — what career structures exist to change them?”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548640" y="4690872"/>
            <a:ext cx="5486400" cy="749808"/>
          </a:xfrm>
          <a:prstGeom prst="roundRect">
            <a:avLst>
              <a:gd name="adj" fmla="val 8537"/>
            </a:avLst>
          </a:prstGeom>
          <a:solidFill>
            <a:srgbClr val="F2F5FB"/>
          </a:solidFill>
          <a:ln/>
        </p:spPr>
      </p:sp>
      <p:sp>
        <p:nvSpPr>
          <p:cNvPr id="21" name="Shape 19"/>
          <p:cNvSpPr/>
          <p:nvPr/>
        </p:nvSpPr>
        <p:spPr>
          <a:xfrm>
            <a:off x="694944" y="4928616"/>
            <a:ext cx="274320" cy="274320"/>
          </a:xfrm>
          <a:prstGeom prst="ellipse">
            <a:avLst/>
          </a:prstGeom>
          <a:solidFill>
            <a:srgbClr val="141B2E"/>
          </a:solidFill>
          <a:ln/>
        </p:spPr>
      </p:sp>
      <p:sp>
        <p:nvSpPr>
          <p:cNvPr id="22" name="Text 20"/>
          <p:cNvSpPr/>
          <p:nvPr/>
        </p:nvSpPr>
        <p:spPr>
          <a:xfrm>
            <a:off x="694944" y="49286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078992" y="4736592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much of your pay-equity program’s cost sits outside the software — outside counsel, structure consulting, analyst time?”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548640" y="5532120"/>
            <a:ext cx="5486400" cy="749808"/>
          </a:xfrm>
          <a:prstGeom prst="roundRect">
            <a:avLst>
              <a:gd name="adj" fmla="val 8537"/>
            </a:avLst>
          </a:prstGeom>
          <a:solidFill>
            <a:srgbClr val="F2F5FB"/>
          </a:solidFill>
          <a:ln/>
        </p:spPr>
      </p:sp>
      <p:sp>
        <p:nvSpPr>
          <p:cNvPr id="25" name="Shape 23"/>
          <p:cNvSpPr/>
          <p:nvPr/>
        </p:nvSpPr>
        <p:spPr>
          <a:xfrm>
            <a:off x="694944" y="5769864"/>
            <a:ext cx="274320" cy="274320"/>
          </a:xfrm>
          <a:prstGeom prst="ellipse">
            <a:avLst/>
          </a:prstGeom>
          <a:solidFill>
            <a:srgbClr val="141B2E"/>
          </a:solidFill>
          <a:ln/>
        </p:spPr>
      </p:sp>
      <p:sp>
        <p:nvSpPr>
          <p:cNvPr id="26" name="Text 24"/>
          <p:cNvSpPr/>
          <p:nvPr/>
        </p:nvSpPr>
        <p:spPr>
          <a:xfrm>
            <a:off x="694944" y="5769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078992" y="5577840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“If your comp lead left tomorrow, could anyone else in the building explain how pay is set here?”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6400800" y="9326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They’ll say → you say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6400800" y="1325880"/>
            <a:ext cx="5239512" cy="603504"/>
          </a:xfrm>
          <a:prstGeom prst="roundRect">
            <a:avLst>
              <a:gd name="adj" fmla="val 10606"/>
            </a:avLst>
          </a:prstGeom>
          <a:solidFill>
            <a:srgbClr val="FBEAEA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0" y="1362456"/>
            <a:ext cx="4892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“We’re the pay-equity standard — litigation-tested, privilege-compatible.”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400800" y="2002536"/>
            <a:ext cx="5239512" cy="877824"/>
          </a:xfrm>
          <a:prstGeom prst="roundRect">
            <a:avLst>
              <a:gd name="adj" fmla="val 7292"/>
            </a:avLst>
          </a:prstGeom>
          <a:solidFill>
            <a:srgbClr val="E4F5F1"/>
          </a:solidFill>
          <a:ln/>
        </p:spPr>
      </p:sp>
      <p:sp>
        <p:nvSpPr>
          <p:cNvPr id="32" name="Text 30"/>
          <p:cNvSpPr/>
          <p:nvPr/>
        </p:nvSpPr>
        <p:spPr>
          <a:xfrm>
            <a:off x="6583680" y="2039112"/>
            <a:ext cx="4892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≠ architecture. Their own blog admits customer architectures fail the equal-value test. Keep them; fix the foundation.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400800" y="3008376"/>
            <a:ext cx="5239512" cy="603504"/>
          </a:xfrm>
          <a:prstGeom prst="roundRect">
            <a:avLst>
              <a:gd name="adj" fmla="val 10606"/>
            </a:avLst>
          </a:prstGeom>
          <a:solidFill>
            <a:srgbClr val="FBEAEA"/>
          </a:solidFill>
          <a:ln/>
        </p:spPr>
      </p:sp>
      <p:sp>
        <p:nvSpPr>
          <p:cNvPr id="34" name="Text 32"/>
          <p:cNvSpPr/>
          <p:nvPr/>
        </p:nvSpPr>
        <p:spPr>
          <a:xfrm>
            <a:off x="6583680" y="3044952"/>
            <a:ext cx="4892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“Role vendors are slow consulting; we’re software — live in weeks.”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400800" y="3685032"/>
            <a:ext cx="5239512" cy="877824"/>
          </a:xfrm>
          <a:prstGeom prst="roundRect">
            <a:avLst>
              <a:gd name="adj" fmla="val 7292"/>
            </a:avLst>
          </a:prstGeom>
          <a:solidFill>
            <a:srgbClr val="E4F5F1"/>
          </a:solidFill>
          <a:ln/>
        </p:spPr>
      </p:sp>
      <p:sp>
        <p:nvSpPr>
          <p:cNvPr id="36" name="Text 34"/>
          <p:cNvSpPr/>
          <p:nvPr/>
        </p:nvSpPr>
        <p:spPr>
          <a:xfrm>
            <a:off x="6583680" y="3721608"/>
            <a:ext cx="4892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regression in weeks on bad groupings is fast wrong answers — and their deployments route structure work to Mercer anyway, billed separately.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400800" y="4690872"/>
            <a:ext cx="5239512" cy="603504"/>
          </a:xfrm>
          <a:prstGeom prst="roundRect">
            <a:avLst>
              <a:gd name="adj" fmla="val 10606"/>
            </a:avLst>
          </a:prstGeom>
          <a:solidFill>
            <a:srgbClr val="FBEAEA"/>
          </a:solidFill>
          <a:ln/>
        </p:spPr>
      </p:sp>
      <p:sp>
        <p:nvSpPr>
          <p:cNvPr id="38" name="Text 36"/>
          <p:cNvSpPr/>
          <p:nvPr/>
        </p:nvSpPr>
        <p:spPr>
          <a:xfrm>
            <a:off x="6583680" y="4727448"/>
            <a:ext cx="4892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“AI-native now — Syndi optimizes every pay decision.”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400800" y="5367528"/>
            <a:ext cx="5239512" cy="877824"/>
          </a:xfrm>
          <a:prstGeom prst="roundRect">
            <a:avLst>
              <a:gd name="adj" fmla="val 7292"/>
            </a:avLst>
          </a:prstGeom>
          <a:solidFill>
            <a:srgbClr val="E4F5F1"/>
          </a:solidFill>
          <a:ln/>
        </p:spPr>
      </p:sp>
      <p:sp>
        <p:nvSpPr>
          <p:cNvPr id="40" name="Text 38"/>
          <p:cNvSpPr/>
          <p:nvPr/>
        </p:nvSpPr>
        <p:spPr>
          <a:xfrm>
            <a:off x="6583680" y="5404104"/>
            <a:ext cx="4892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months old, partly acqui-hired, from a company whose ex-employees describe QA cut to a skeleton crew. The agents enforce the customer’s broken structure.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57200" y="65105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Mabry.Ai Signal Intelligence · run 2026-08-07 · cached/indexed sources — verify verbatim quotes before client use · INTERNAL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77640" cy="6858000"/>
          </a:xfrm>
          <a:prstGeom prst="rect">
            <a:avLst/>
          </a:prstGeom>
          <a:solidFill>
            <a:srgbClr val="141B2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457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B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BATTLECARD · THREAT #1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11480" y="7772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Korn Ferry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1691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kornferry.com · NYSE: KFY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20574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B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— held together by consultants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11480" y="26060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9D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 Operationalize after the engagement — sell what runs on Tuesday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1480" y="3337560"/>
            <a:ext cx="3246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FY26 fee revenue $2.91B (+6.5%)</a:t>
            </a:r>
            <a:endParaRPr lang="en-US" sz="100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~$363.5M — FLAT; Q4 down 2.6% while services grew 7%</a:t>
            </a:r>
            <a:endParaRPr lang="en-US" sz="100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KF Listen runs on Qualtrics/Forsta; analytics on Tableau</a:t>
            </a:r>
            <a:endParaRPr lang="en-US" sz="100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 $470–500/hr; 42% of backlog &gt;$1M engagements</a:t>
            </a:r>
            <a:endParaRPr lang="en-US" sz="100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AMS (RPO) $1.1B deal announced Jun 2026 — services, not software</a:t>
            </a:r>
            <a:endParaRPr lang="en-US" sz="100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~35 G2 reviews firm-wide across ALL products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343400" y="41148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two-minute read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343400" y="960120"/>
            <a:ext cx="75438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single-vendor four-layer claim — and the filings undercut it: Digital is ~12.5% of revenue and shrinking in Q4</a:t>
            </a:r>
            <a:endParaRPr lang="en-US" sz="115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44% of even Digital’s new business is subscription — half the “software” motion is projects</a:t>
            </a:r>
            <a:endParaRPr lang="en-US" sz="115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method: the global Role incumbent — license-gated, evaluator-dependent, 1950s fundamentals</a:t>
            </a:r>
            <a:endParaRPr lang="en-US" sz="115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Suite (Nov 2025) is the third rebrand of the same digital stack in a decade</a:t>
            </a:r>
            <a:endParaRPr lang="en-US" sz="115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wedge: the post-engagement vacuum — consultants roll off, the binder stays, nothing operationalizes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43400" y="4160520"/>
            <a:ext cx="3703320" cy="2148840"/>
          </a:xfrm>
          <a:prstGeom prst="roundRect">
            <a:avLst>
              <a:gd name="adj" fmla="val 3830"/>
            </a:avLst>
          </a:prstGeom>
          <a:solidFill>
            <a:srgbClr val="FBEAE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43159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THEY WIN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0" y="4645152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5A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Board-mandated transformations with exec search attached</a:t>
            </a:r>
            <a:endParaRPr lang="en-US" sz="98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5A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enterprise (20K+, multi-country, one comp dataset)</a:t>
            </a:r>
            <a:endParaRPr lang="en-US" sz="98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5A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sector wedded to Hay methodology; enterprise RPO post-AMS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8211312" y="4160520"/>
            <a:ext cx="3703320" cy="2148840"/>
          </a:xfrm>
          <a:prstGeom prst="roundRect">
            <a:avLst>
              <a:gd name="adj" fmla="val 3830"/>
            </a:avLst>
          </a:prstGeom>
          <a:solidFill>
            <a:srgbClr val="E4F5F1"/>
          </a:solidFill>
          <a:ln/>
        </p:spPr>
      </p:sp>
      <p:sp>
        <p:nvSpPr>
          <p:cNvPr id="15" name="Text 13"/>
          <p:cNvSpPr/>
          <p:nvPr/>
        </p:nvSpPr>
        <p:spPr>
          <a:xfrm>
            <a:off x="8439912" y="43159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FB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BEAT THEM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439912" y="4645152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“Keep the KF diagnosis — we’re the system that runs it every day” (target 6–18 months post-engagement)</a:t>
            </a:r>
            <a:endParaRPr lang="en-US" sz="98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Hay-graded orgs: STYR modernizes without the certification priesthood</a:t>
            </a:r>
            <a:endParaRPr lang="en-US" sz="98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head-to-head: their platform is rented — easiest layer to win</a:t>
            </a:r>
            <a:endParaRPr lang="en-US" sz="98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their rate card against per-employee pricing in the 500–20K band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4343400" y="651052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Mabry.Ai Signal Intelligence · run 2026-08-07 · cached/indexed sources — verify verbatim quotes before client use · INTERNAL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Korn Ferry — positioning &amp; narrative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87782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criteria they install, the criteria they avoid, and the lines they hand us.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4892040"/>
          </a:xfrm>
          <a:prstGeom prst="roundRect">
            <a:avLst>
              <a:gd name="adj" fmla="val 1869"/>
            </a:avLst>
          </a:prstGeom>
          <a:solidFill>
            <a:srgbClr val="F2F5FB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00200"/>
            <a:ext cx="1046988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One-liner: the integrated talent firm — “50 years of IP,” billions of data points, ~30M profiles, one brand across search, consulting, and software.</a:t>
            </a:r>
            <a:endParaRPr lang="en-US" sz="1150" dirty="0"/>
          </a:p>
          <a:p>
            <a:pPr marL="101600" indent="-1016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Suite (Nov 2025): consolidates Architect, Assess, Pay, Recruit, Sell, Listen, Coach into one subscription. Real launch, real CapEx ($85M FY26) — but discussed on earnings calls as FUTURE monetization; the segment it lives in shrank in Q4. Third rebrand of the same stack in a decade; analytics powered by Tableau.</a:t>
            </a:r>
            <a:endParaRPr lang="en-US" sz="1150" dirty="0"/>
          </a:p>
          <a:p>
            <a:pPr marL="101600" indent="-1016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 they install: integration (“one throat to choke”), data scale (32,000-org pay dataset, 7M exec profiles), brand/board access, global delivery, Hay as “the global standard.”</a:t>
            </a:r>
            <a:endParaRPr lang="en-US" sz="1150" dirty="0"/>
          </a:p>
          <a:p>
            <a:pPr marL="101600" indent="-1016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 they avoid: Digital segment growth, subscription mix (44% of Digital new business), whose software runs KF Listen, per-employee pricing for a 2,000-person org, what happens after the engagement ends, G2 counts (~35 firm-wide).</a:t>
            </a:r>
            <a:endParaRPr lang="en-US" sz="1150" dirty="0"/>
          </a:p>
          <a:p>
            <a:pPr marL="101600" indent="-1016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direction, read plainly: management celebrates “up-brand” (fees +10%, $1M+ engagements, a “$300B” enterprise TAM pivot), and AMS buys RPO scale, not software. Post-close, Digital falls toward ~10% of the combined firm — the four-layer SOFTWARE story is shrinking as a share of what KF is.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Mabry.Ai Signal Intelligence · run 2026-08-07 · cached/indexed sources — verify verbatim quotes before client use · INTERNAL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8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Korn Ferry — feature matrix vs. the stack</a:t>
            </a:r>
            <a:endParaRPr lang="en-US" sz="2500" dirty="0"/>
          </a:p>
        </p:txBody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11091672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4663440"/>
                <a:gridCol w="409651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Korn Ferry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TMA Performance stack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Assessments (Person/Fit)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product, enterprise-grade science: KF4D, Talent Q, KFALP; manuals exist but gated (vs Hogan’s open evidence)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745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TMA Want x Can + BrainsFirst NeurOlympics — attack the delivery model (point-in-time, consultant-debriefed, enterprise-priced), not the science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 evaluation (Role)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Hay Guide Chart — the global points-factor incumbent; license + certified evaluators; documented critiques: slow re-grades, lock-in, published gender-bias literature, 1950s fundamentals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745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STYR — living, gender-neutral architecture without the certification priesthood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 data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KF Pay: 32,000+ orgs, 150+ countries — genuine moat at global scale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745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Concede the dataset for multinationals; STYR right-sized for 500–20K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 architecture product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KF Architect: shipped, but zero independent reviews or adoption data — consultant-deployed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745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 for self-serve references at buyer’s size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Engagement / listening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KF Listen = “in partnership with Qualtrics and Forsta” — survey IP + norms + consultants on rented platform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745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DecisionWise owns platform + benchmarks + debrief practice — the softest wall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360 / development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KF 360 (38 competencies, certification-gated, 120-min debrief required); KF Coach: 3,000+ coaches — real but human-capacity-bound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745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DecisionWise 360 craft + TMA development — scales as software + practice, not headcount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Mid-market fit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$470–500/hr, &gt;$1M engagement norms, celebrated up-brand pivot; no credit-union practice found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745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 native at 500–20K — their rate card does the selling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RPO / exec search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Post-AMS: market-leading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745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 of scope — concede; not a consortium battle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5105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Mabry.Ai Signal Intelligence · run 2026-08-07 · cached/indexed sources — verify verbatim quotes before client use · INTERNAL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8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Korn Ferry — exploitable gaps (full ranked list)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87782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first, then the move. Confidence tags in the battlecard.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5486400" cy="1572768"/>
          </a:xfrm>
          <a:prstGeom prst="roundRect">
            <a:avLst>
              <a:gd name="adj" fmla="val 5233"/>
            </a:avLst>
          </a:prstGeom>
          <a:solidFill>
            <a:srgbClr val="F2F5FB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444752"/>
            <a:ext cx="310896" cy="310896"/>
          </a:xfrm>
          <a:prstGeom prst="ellipse">
            <a:avLst/>
          </a:prstGeom>
          <a:solidFill>
            <a:srgbClr val="2FB7A4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444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33856" y="1408176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post-engagement vacuum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68096" y="1828800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sells time; what persists is the artifact, not a system; delivering consultants may be gone at renewal (layoff-cadence reviews + announced FY23 cuts).</a:t>
            </a:r>
            <a:endParaRPr lang="en-US" sz="860" dirty="0"/>
          </a:p>
        </p:txBody>
      </p:sp>
      <p:sp>
        <p:nvSpPr>
          <p:cNvPr id="9" name="Text 7"/>
          <p:cNvSpPr/>
          <p:nvPr/>
        </p:nvSpPr>
        <p:spPr>
          <a:xfrm>
            <a:off x="768096" y="2414016"/>
            <a:ext cx="5074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i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“Ninety days after the engagement ended — what actually ran differently, and who operated it?”</a:t>
            </a:r>
            <a:endParaRPr lang="en-US" sz="860" dirty="0"/>
          </a:p>
        </p:txBody>
      </p:sp>
      <p:sp>
        <p:nvSpPr>
          <p:cNvPr id="10" name="Shape 8"/>
          <p:cNvSpPr/>
          <p:nvPr/>
        </p:nvSpPr>
        <p:spPr>
          <a:xfrm>
            <a:off x="6263640" y="1298448"/>
            <a:ext cx="5486400" cy="1572768"/>
          </a:xfrm>
          <a:prstGeom prst="roundRect">
            <a:avLst>
              <a:gd name="adj" fmla="val 5233"/>
            </a:avLst>
          </a:prstGeom>
          <a:solidFill>
            <a:srgbClr val="F2F5FB"/>
          </a:solidFill>
          <a:ln/>
        </p:spPr>
      </p:sp>
      <p:sp>
        <p:nvSpPr>
          <p:cNvPr id="11" name="Shape 9"/>
          <p:cNvSpPr/>
          <p:nvPr/>
        </p:nvSpPr>
        <p:spPr>
          <a:xfrm>
            <a:off x="6428232" y="1444752"/>
            <a:ext cx="310896" cy="310896"/>
          </a:xfrm>
          <a:prstGeom prst="ellipse">
            <a:avLst/>
          </a:prstGeom>
          <a:solidFill>
            <a:srgbClr val="2FB7A4"/>
          </a:solidFill>
          <a:ln/>
        </p:spPr>
      </p:sp>
      <p:sp>
        <p:nvSpPr>
          <p:cNvPr id="12" name="Text 10"/>
          <p:cNvSpPr/>
          <p:nvPr/>
        </p:nvSpPr>
        <p:spPr>
          <a:xfrm>
            <a:off x="6428232" y="1444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48856" y="1408176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layer is rented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83096" y="1828800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KF Listen delivered “in partnership with Qualtrics and Forsta” — KF brings survey IP and consultants, not a platform.</a:t>
            </a:r>
            <a:endParaRPr lang="en-US" sz="860" dirty="0"/>
          </a:p>
        </p:txBody>
      </p:sp>
      <p:sp>
        <p:nvSpPr>
          <p:cNvPr id="15" name="Text 13"/>
          <p:cNvSpPr/>
          <p:nvPr/>
        </p:nvSpPr>
        <p:spPr>
          <a:xfrm>
            <a:off x="6483096" y="2414016"/>
            <a:ext cx="5074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i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direct platform comparison exposes it. DecisionWise owns platform, benchmarks, and the debrief practice.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548640" y="2999232"/>
            <a:ext cx="5486400" cy="1572768"/>
          </a:xfrm>
          <a:prstGeom prst="roundRect">
            <a:avLst>
              <a:gd name="adj" fmla="val 5233"/>
            </a:avLst>
          </a:prstGeom>
          <a:solidFill>
            <a:srgbClr val="F2F5FB"/>
          </a:solidFill>
          <a:ln/>
        </p:spPr>
      </p:sp>
      <p:sp>
        <p:nvSpPr>
          <p:cNvPr id="17" name="Shape 15"/>
          <p:cNvSpPr/>
          <p:nvPr/>
        </p:nvSpPr>
        <p:spPr>
          <a:xfrm>
            <a:off x="713232" y="3145536"/>
            <a:ext cx="310896" cy="310896"/>
          </a:xfrm>
          <a:prstGeom prst="ellipse">
            <a:avLst/>
          </a:prstGeom>
          <a:solidFill>
            <a:srgbClr val="2FB7A4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33856" y="310896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installed base needs a refresh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68096" y="3529584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Huge 1990s–2000s grade structures in healthcare/gov/higher-ed; re-grading = certified evaluators at consulting rates; published gender-bias critiques.</a:t>
            </a:r>
            <a:endParaRPr lang="en-US" sz="860" dirty="0"/>
          </a:p>
        </p:txBody>
      </p:sp>
      <p:sp>
        <p:nvSpPr>
          <p:cNvPr id="21" name="Text 19"/>
          <p:cNvSpPr/>
          <p:nvPr/>
        </p:nvSpPr>
        <p:spPr>
          <a:xfrm>
            <a:off x="768096" y="4114800"/>
            <a:ext cx="5074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i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Pay-transparency laws give Total Rewards the trigger; STYR modernizes without the priesthood.</a:t>
            </a:r>
            <a:endParaRPr lang="en-US" sz="860" dirty="0"/>
          </a:p>
        </p:txBody>
      </p:sp>
      <p:sp>
        <p:nvSpPr>
          <p:cNvPr id="22" name="Shape 20"/>
          <p:cNvSpPr/>
          <p:nvPr/>
        </p:nvSpPr>
        <p:spPr>
          <a:xfrm>
            <a:off x="6263640" y="2999232"/>
            <a:ext cx="5486400" cy="1572768"/>
          </a:xfrm>
          <a:prstGeom prst="roundRect">
            <a:avLst>
              <a:gd name="adj" fmla="val 5233"/>
            </a:avLst>
          </a:prstGeom>
          <a:solidFill>
            <a:srgbClr val="F2F5FB"/>
          </a:solidFill>
          <a:ln/>
        </p:spPr>
      </p:sp>
      <p:sp>
        <p:nvSpPr>
          <p:cNvPr id="23" name="Shape 21"/>
          <p:cNvSpPr/>
          <p:nvPr/>
        </p:nvSpPr>
        <p:spPr>
          <a:xfrm>
            <a:off x="6428232" y="3145536"/>
            <a:ext cx="310896" cy="310896"/>
          </a:xfrm>
          <a:prstGeom prst="ellipse">
            <a:avLst/>
          </a:prstGeom>
          <a:solidFill>
            <a:srgbClr val="2FB7A4"/>
          </a:solidFill>
          <a:ln/>
        </p:spPr>
      </p:sp>
      <p:sp>
        <p:nvSpPr>
          <p:cNvPr id="24" name="Text 22"/>
          <p:cNvSpPr/>
          <p:nvPr/>
        </p:nvSpPr>
        <p:spPr>
          <a:xfrm>
            <a:off x="642823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48856" y="310896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Mid-market structural abandonment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483096" y="3529584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celebrates “up-brand”: fees +10%, $1M+ engagements, $470+/hr. No credit-union practice found.</a:t>
            </a:r>
            <a:endParaRPr lang="en-US" sz="860" dirty="0"/>
          </a:p>
        </p:txBody>
      </p:sp>
      <p:sp>
        <p:nvSpPr>
          <p:cNvPr id="27" name="Text 25"/>
          <p:cNvSpPr/>
          <p:nvPr/>
        </p:nvSpPr>
        <p:spPr>
          <a:xfrm>
            <a:off x="6483096" y="4114800"/>
            <a:ext cx="5074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i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500–20K band their rate card does the selling — they aren’t really there.</a:t>
            </a:r>
            <a:endParaRPr lang="en-US" sz="860" dirty="0"/>
          </a:p>
        </p:txBody>
      </p:sp>
      <p:sp>
        <p:nvSpPr>
          <p:cNvPr id="28" name="Shape 26"/>
          <p:cNvSpPr/>
          <p:nvPr/>
        </p:nvSpPr>
        <p:spPr>
          <a:xfrm>
            <a:off x="548640" y="4700016"/>
            <a:ext cx="5486400" cy="1572768"/>
          </a:xfrm>
          <a:prstGeom prst="roundRect">
            <a:avLst>
              <a:gd name="adj" fmla="val 5233"/>
            </a:avLst>
          </a:prstGeom>
          <a:solidFill>
            <a:srgbClr val="F2F5FB"/>
          </a:solidFill>
          <a:ln/>
        </p:spPr>
      </p:sp>
      <p:sp>
        <p:nvSpPr>
          <p:cNvPr id="29" name="Shape 27"/>
          <p:cNvSpPr/>
          <p:nvPr/>
        </p:nvSpPr>
        <p:spPr>
          <a:xfrm>
            <a:off x="713232" y="4846320"/>
            <a:ext cx="310896" cy="310896"/>
          </a:xfrm>
          <a:prstGeom prst="ellipse">
            <a:avLst/>
          </a:prstGeom>
          <a:solidFill>
            <a:srgbClr val="2FB7A4"/>
          </a:solidFill>
          <a:ln/>
        </p:spPr>
      </p:sp>
      <p:sp>
        <p:nvSpPr>
          <p:cNvPr id="30" name="Text 28"/>
          <p:cNvSpPr/>
          <p:nvPr/>
        </p:nvSpPr>
        <p:spPr>
          <a:xfrm>
            <a:off x="713232" y="4846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33856" y="4809744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Point-in-time assessment vs continuous insight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68096" y="5230368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KF4D fires at hire/succession moments, consultant-debriefed; no product path to always-on person insight at mid-market price.</a:t>
            </a:r>
            <a:endParaRPr lang="en-US" sz="860" dirty="0"/>
          </a:p>
        </p:txBody>
      </p:sp>
      <p:sp>
        <p:nvSpPr>
          <p:cNvPr id="33" name="Text 31"/>
          <p:cNvSpPr/>
          <p:nvPr/>
        </p:nvSpPr>
        <p:spPr>
          <a:xfrm>
            <a:off x="768096" y="5815584"/>
            <a:ext cx="5074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i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TMA + BrainsFirst serve the daily talent decisions between KF’s big moments.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6263640" y="4700016"/>
            <a:ext cx="5486400" cy="1572768"/>
          </a:xfrm>
          <a:prstGeom prst="roundRect">
            <a:avLst>
              <a:gd name="adj" fmla="val 5233"/>
            </a:avLst>
          </a:prstGeom>
          <a:solidFill>
            <a:srgbClr val="F2F5FB"/>
          </a:solidFill>
          <a:ln/>
        </p:spPr>
      </p:sp>
      <p:sp>
        <p:nvSpPr>
          <p:cNvPr id="35" name="Shape 33"/>
          <p:cNvSpPr/>
          <p:nvPr/>
        </p:nvSpPr>
        <p:spPr>
          <a:xfrm>
            <a:off x="6428232" y="4846320"/>
            <a:ext cx="310896" cy="310896"/>
          </a:xfrm>
          <a:prstGeom prst="ellipse">
            <a:avLst/>
          </a:prstGeom>
          <a:solidFill>
            <a:srgbClr val="2FB7A4"/>
          </a:solidFill>
          <a:ln/>
        </p:spPr>
      </p:sp>
      <p:sp>
        <p:nvSpPr>
          <p:cNvPr id="36" name="Text 34"/>
          <p:cNvSpPr/>
          <p:nvPr/>
        </p:nvSpPr>
        <p:spPr>
          <a:xfrm>
            <a:off x="6428232" y="4846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848856" y="4809744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AMS integration window (now → 2027)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483096" y="5230368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$1.1B deal, ~$581M revolver draw, disclosed integration/retention risks, 10,000+-person cross-border services integration.</a:t>
            </a:r>
            <a:endParaRPr lang="en-US" sz="860" dirty="0"/>
          </a:p>
        </p:txBody>
      </p:sp>
      <p:sp>
        <p:nvSpPr>
          <p:cNvPr id="39" name="Text 37"/>
          <p:cNvSpPr/>
          <p:nvPr/>
        </p:nvSpPr>
        <p:spPr>
          <a:xfrm>
            <a:off x="6483096" y="5815584"/>
            <a:ext cx="5074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i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“Will your talent roadmap get C-suite attention during a $1.1B RPO integration?” Time-box outreach into KF accounts.</a:t>
            </a:r>
            <a:endParaRPr lang="en-US" sz="860" dirty="0"/>
          </a:p>
        </p:txBody>
      </p:sp>
      <p:sp>
        <p:nvSpPr>
          <p:cNvPr id="40" name="Text 38"/>
          <p:cNvSpPr/>
          <p:nvPr/>
        </p:nvSpPr>
        <p:spPr>
          <a:xfrm>
            <a:off x="457200" y="65105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Mabry.Ai Signal Intelligence · run 2026-08-07 · cached/indexed sources — verify verbatim quotes before client use · INTERNAL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8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Korn Ferry — pricing, complaints, ex-employee signals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3611880" cy="5029200"/>
          </a:xfrm>
          <a:prstGeom prst="roundRect">
            <a:avLst>
              <a:gd name="adj" fmla="val 2532"/>
            </a:avLst>
          </a:prstGeom>
          <a:solidFill>
            <a:srgbClr val="F2F5FB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1325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signals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49808" y="1755648"/>
            <a:ext cx="32461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Consulting: ~$470–500/hr average (up ~50% from ~$300); 42% of backlog &gt;$1M engagements; interim raised $100→$150/hr</a:t>
            </a:r>
            <a:endParaRPr lang="en-US" sz="92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Software: Talent Suite ARR not separately disclosed; no public per-employee pricing; Digital adj. EBITDA margin 31% — priced for margin, not accessibility</a:t>
            </a:r>
            <a:endParaRPr lang="en-US" sz="92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buyer purchases a PROGRAM, not a product — the real spend is the services envelope around the license</a:t>
            </a:r>
            <a:endParaRPr lang="en-US" sz="92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the 3-year total including re-grading, debriefs, and refresh engagements — then divide by employee</a:t>
            </a:r>
            <a:endParaRPr lang="en-US" sz="920" dirty="0"/>
          </a:p>
        </p:txBody>
      </p:sp>
      <p:sp>
        <p:nvSpPr>
          <p:cNvPr id="6" name="Shape 4"/>
          <p:cNvSpPr/>
          <p:nvPr/>
        </p:nvSpPr>
        <p:spPr>
          <a:xfrm>
            <a:off x="4343400" y="1143000"/>
            <a:ext cx="3611880" cy="5029200"/>
          </a:xfrm>
          <a:prstGeom prst="roundRect">
            <a:avLst>
              <a:gd name="adj" fmla="val 2532"/>
            </a:avLst>
          </a:prstGeom>
          <a:solidFill>
            <a:srgbClr val="F2F5FB"/>
          </a:solidFill>
          <a:ln/>
        </p:spPr>
      </p:sp>
      <p:sp>
        <p:nvSpPr>
          <p:cNvPr id="7" name="Text 5"/>
          <p:cNvSpPr/>
          <p:nvPr/>
        </p:nvSpPr>
        <p:spPr>
          <a:xfrm>
            <a:off x="4544568" y="1325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complaints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44568" y="1755648"/>
            <a:ext cx="32461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review base nearly nonexistent (~35 G2 reviews firm-wide) — no themes CAN clear the 3-source bar; the absence is the finding</a:t>
            </a:r>
            <a:endParaRPr lang="en-US" sz="92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Gartner PI coverage sits in SERVICES categories (search, outplacement, leadership dev) — their customers buy services and review services</a:t>
            </a:r>
            <a:endParaRPr lang="en-US" sz="92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Hay-method criticisms live in published literature, not review sites: evaluator dependency, slow re-grades, certification cost, gender-bias critiques — quote the literature</a:t>
            </a:r>
            <a:endParaRPr lang="en-US" sz="92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framing: “ask for ten named software references at your size who renewed a subscription without a services engagement attached”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8138160" y="1143000"/>
            <a:ext cx="3611880" cy="5029200"/>
          </a:xfrm>
          <a:prstGeom prst="roundRect">
            <a:avLst>
              <a:gd name="adj" fmla="val 2532"/>
            </a:avLst>
          </a:prstGeom>
          <a:solidFill>
            <a:srgbClr val="F2F5FB"/>
          </a:solidFill>
          <a:ln/>
        </p:spPr>
      </p:sp>
      <p:sp>
        <p:nvSpPr>
          <p:cNvPr id="10" name="Text 8"/>
          <p:cNvSpPr/>
          <p:nvPr/>
        </p:nvSpPr>
        <p:spPr>
          <a:xfrm>
            <a:off x="8339328" y="1325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Ex-employee signals (public only)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339328" y="1755648"/>
            <a:ext cx="32461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Glassdoor ~3.4 across ~4,700+: “quarterly layoffs when the company did not meet financial goals”; “massive layoffs every other year”; KF “follows very few of the best practices they recommend their clients embrace”</a:t>
            </a:r>
            <a:endParaRPr lang="en-US" sz="92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Relevance: the consultants who deliver a KF engagement have real odds of not being there at renewal — feeds the post-engagement-vacuum wedge. Continuity questions, never gossip</a:t>
            </a:r>
            <a:endParaRPr lang="en-US" sz="92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Counter-signal: leadership is stable (Burnison 19 yrs, Rozek 14) — no destabilizing exec event to time against; succession is an open governance question, not a claim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457200" y="65105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Mabry.Ai Signal Intelligence · run 2026-08-07 · cached/indexed sources — verify verbatim quotes before client use · INTERNAL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8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Korn Ferry — run-alongside plan &amp; MEDDPICC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440680" cy="5029200"/>
          </a:xfrm>
          <a:prstGeom prst="roundRect">
            <a:avLst>
              <a:gd name="adj" fmla="val 1818"/>
            </a:avLst>
          </a:prstGeom>
          <a:solidFill>
            <a:srgbClr val="E4F5F1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32588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FB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RUN-ALONGSIDE / ENTRY WEDGES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77240" y="1737360"/>
            <a:ext cx="502920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natural sequence is AFTER KF, not beside them: KF does the board-level diagnosis; the stack operationalizes it — “keep the strategy deck, install the system that executes it daily”</a:t>
            </a:r>
            <a:endParaRPr lang="en-US" sz="1000" dirty="0"/>
          </a:p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accounts 6–18 months after a KF org-design or assessment engagement — the vacuum window</a:t>
            </a:r>
            <a:endParaRPr lang="en-US" sz="1000" dirty="0"/>
          </a:p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KF holds listening or assessment contracts, enter through the layers KF rents (Experience) or under-serves (continuous Person/Fit) at a price point KF structurally won’t match</a:t>
            </a:r>
            <a:endParaRPr lang="en-US" sz="1000" dirty="0"/>
          </a:p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win outright: board-mandated transformation with exec search attached; global enterprise 20K+; Hay-wedded public sector; enterprise RPO — don’t fight these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199632" y="1143000"/>
            <a:ext cx="5440680" cy="5029200"/>
          </a:xfrm>
          <a:prstGeom prst="roundRect">
            <a:avLst>
              <a:gd name="adj" fmla="val 1818"/>
            </a:avLst>
          </a:prstGeom>
          <a:solidFill>
            <a:srgbClr val="F2F5FB"/>
          </a:solidFill>
          <a:ln/>
        </p:spPr>
      </p:sp>
      <p:sp>
        <p:nvSpPr>
          <p:cNvPr id="7" name="Text 5"/>
          <p:cNvSpPr/>
          <p:nvPr/>
        </p:nvSpPr>
        <p:spPr>
          <a:xfrm>
            <a:off x="6428232" y="132588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MEDDPICC ANGLES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28232" y="1737360"/>
            <a:ext cx="502920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3-year advisory spend per employee vs subscription cost · % of engagement recommendations operationalized at 90/180 days · re-grade cost per role · survey action rates between cycles</a:t>
            </a:r>
            <a:endParaRPr lang="en-US" sz="92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buyer: KF lives at board/CEO altitude; the stack’s buyers are the CHRO’s lieutenants (Total Rewards, TA, L&amp;D, OD) who own daily systems — sell below KF’s altitude where the operating budget lives</a:t>
            </a:r>
            <a:endParaRPr lang="en-US" sz="92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criteria to install: runs without consultants · per-employee pricing · platform ownership (who owns the listening platform and data) · continuous vs point-in-time — four criteria the consulting model fails by design</a:t>
            </a:r>
            <a:endParaRPr lang="en-US" sz="92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process: avoid RFPs framed as transformation programs; drive product-pilot processes (one layer, one quarter, measurable) a services firm can’t answer in kind</a:t>
            </a:r>
            <a:endParaRPr lang="en-US" sz="92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Champion: the HR operator who inherited the KF binder and must make it real with no budget left; the CFO staring at the services line</a:t>
            </a:r>
            <a:endParaRPr lang="en-US" sz="92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Competition: don’t compete at brand-halo altitude — make the evaluation about what runs on Tuesday morning, priced per employee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Mabry.Ai Signal Intelligence · run 2026-08-07 · cached/indexed sources — verify verbatim quotes before client use · INTERNAL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8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Korn Ferry — landmines &amp; counter-FUD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landmines — never name the competitor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486400" cy="749808"/>
          </a:xfrm>
          <a:prstGeom prst="roundRect">
            <a:avLst>
              <a:gd name="adj" fmla="val 8537"/>
            </a:avLst>
          </a:prstGeom>
          <a:solidFill>
            <a:srgbClr val="F2F5FB"/>
          </a:solidFill>
          <a:ln/>
        </p:spPr>
      </p:sp>
      <p:sp>
        <p:nvSpPr>
          <p:cNvPr id="5" name="Shape 3"/>
          <p:cNvSpPr/>
          <p:nvPr/>
        </p:nvSpPr>
        <p:spPr>
          <a:xfrm>
            <a:off x="694944" y="1563624"/>
            <a:ext cx="274320" cy="274320"/>
          </a:xfrm>
          <a:prstGeom prst="ellipse">
            <a:avLst/>
          </a:prstGeom>
          <a:solidFill>
            <a:srgbClr val="141B2E"/>
          </a:solidFill>
          <a:ln/>
        </p:spPr>
      </p:sp>
      <p:sp>
        <p:nvSpPr>
          <p:cNvPr id="6" name="Text 4"/>
          <p:cNvSpPr/>
          <p:nvPr/>
        </p:nvSpPr>
        <p:spPr>
          <a:xfrm>
            <a:off x="694944" y="15636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078992" y="1371600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“After your last big talent engagement ended, what ran differently ninety days later — and who operated it?”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548640" y="2167128"/>
            <a:ext cx="5486400" cy="749808"/>
          </a:xfrm>
          <a:prstGeom prst="roundRect">
            <a:avLst>
              <a:gd name="adj" fmla="val 8537"/>
            </a:avLst>
          </a:prstGeom>
          <a:solidFill>
            <a:srgbClr val="F2F5FB"/>
          </a:solidFill>
          <a:ln/>
        </p:spPr>
      </p:sp>
      <p:sp>
        <p:nvSpPr>
          <p:cNvPr id="9" name="Shape 7"/>
          <p:cNvSpPr/>
          <p:nvPr/>
        </p:nvSpPr>
        <p:spPr>
          <a:xfrm>
            <a:off x="694944" y="2404872"/>
            <a:ext cx="274320" cy="274320"/>
          </a:xfrm>
          <a:prstGeom prst="ellipse">
            <a:avLst/>
          </a:prstGeom>
          <a:solidFill>
            <a:srgbClr val="141B2E"/>
          </a:solidFill>
          <a:ln/>
        </p:spPr>
      </p:sp>
      <p:sp>
        <p:nvSpPr>
          <p:cNvPr id="10" name="Text 8"/>
          <p:cNvSpPr/>
          <p:nvPr/>
        </p:nvSpPr>
        <p:spPr>
          <a:xfrm>
            <a:off x="694944" y="2404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78992" y="2212848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“Your engagement survey — who built the platform it runs on, and who owns the benchmark data if you change advisors?”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548640" y="3008376"/>
            <a:ext cx="5486400" cy="749808"/>
          </a:xfrm>
          <a:prstGeom prst="roundRect">
            <a:avLst>
              <a:gd name="adj" fmla="val 8537"/>
            </a:avLst>
          </a:prstGeom>
          <a:solidFill>
            <a:srgbClr val="F2F5FB"/>
          </a:solidFill>
          <a:ln/>
        </p:spPr>
      </p:sp>
      <p:sp>
        <p:nvSpPr>
          <p:cNvPr id="13" name="Shape 11"/>
          <p:cNvSpPr/>
          <p:nvPr/>
        </p:nvSpPr>
        <p:spPr>
          <a:xfrm>
            <a:off x="694944" y="3246120"/>
            <a:ext cx="274320" cy="274320"/>
          </a:xfrm>
          <a:prstGeom prst="ellipse">
            <a:avLst/>
          </a:prstGeom>
          <a:solidFill>
            <a:srgbClr val="141B2E"/>
          </a:solidFill>
          <a:ln/>
        </p:spPr>
      </p:sp>
      <p:sp>
        <p:nvSpPr>
          <p:cNvPr id="14" name="Text 12"/>
          <p:cNvSpPr/>
          <p:nvPr/>
        </p:nvSpPr>
        <p:spPr>
          <a:xfrm>
            <a:off x="694944" y="3246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078992" y="3054096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“When were your job grades last re-evaluated, at what cost per role — and who is certified to do the next one?”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548640" y="3849624"/>
            <a:ext cx="5486400" cy="749808"/>
          </a:xfrm>
          <a:prstGeom prst="roundRect">
            <a:avLst>
              <a:gd name="adj" fmla="val 8537"/>
            </a:avLst>
          </a:prstGeom>
          <a:solidFill>
            <a:srgbClr val="F2F5FB"/>
          </a:solidFill>
          <a:ln/>
        </p:spPr>
      </p:sp>
      <p:sp>
        <p:nvSpPr>
          <p:cNvPr id="17" name="Shape 15"/>
          <p:cNvSpPr/>
          <p:nvPr/>
        </p:nvSpPr>
        <p:spPr>
          <a:xfrm>
            <a:off x="694944" y="4087368"/>
            <a:ext cx="274320" cy="274320"/>
          </a:xfrm>
          <a:prstGeom prst="ellipse">
            <a:avLst/>
          </a:prstGeom>
          <a:solidFill>
            <a:srgbClr val="141B2E"/>
          </a:solidFill>
          <a:ln/>
        </p:spPr>
      </p:sp>
      <p:sp>
        <p:nvSpPr>
          <p:cNvPr id="18" name="Text 16"/>
          <p:cNvSpPr/>
          <p:nvPr/>
        </p:nvSpPr>
        <p:spPr>
          <a:xfrm>
            <a:off x="694944" y="40873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078992" y="3895344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“What’s your all-in 3-year talent-advisory spend per employee — would you pay that for software you actually use?”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548640" y="4690872"/>
            <a:ext cx="5486400" cy="749808"/>
          </a:xfrm>
          <a:prstGeom prst="roundRect">
            <a:avLst>
              <a:gd name="adj" fmla="val 8537"/>
            </a:avLst>
          </a:prstGeom>
          <a:solidFill>
            <a:srgbClr val="F2F5FB"/>
          </a:solidFill>
          <a:ln/>
        </p:spPr>
      </p:sp>
      <p:sp>
        <p:nvSpPr>
          <p:cNvPr id="21" name="Shape 19"/>
          <p:cNvSpPr/>
          <p:nvPr/>
        </p:nvSpPr>
        <p:spPr>
          <a:xfrm>
            <a:off x="694944" y="4928616"/>
            <a:ext cx="274320" cy="274320"/>
          </a:xfrm>
          <a:prstGeom prst="ellipse">
            <a:avLst/>
          </a:prstGeom>
          <a:solidFill>
            <a:srgbClr val="141B2E"/>
          </a:solidFill>
          <a:ln/>
        </p:spPr>
      </p:sp>
      <p:sp>
        <p:nvSpPr>
          <p:cNvPr id="22" name="Text 20"/>
          <p:cNvSpPr/>
          <p:nvPr/>
        </p:nvSpPr>
        <p:spPr>
          <a:xfrm>
            <a:off x="694944" y="49286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078992" y="4736592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“Your leadership assessments — what happens with the results between succession events? Who uses them on a Tuesday?”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548640" y="5532120"/>
            <a:ext cx="5486400" cy="749808"/>
          </a:xfrm>
          <a:prstGeom prst="roundRect">
            <a:avLst>
              <a:gd name="adj" fmla="val 8537"/>
            </a:avLst>
          </a:prstGeom>
          <a:solidFill>
            <a:srgbClr val="F2F5FB"/>
          </a:solidFill>
          <a:ln/>
        </p:spPr>
      </p:sp>
      <p:sp>
        <p:nvSpPr>
          <p:cNvPr id="25" name="Shape 23"/>
          <p:cNvSpPr/>
          <p:nvPr/>
        </p:nvSpPr>
        <p:spPr>
          <a:xfrm>
            <a:off x="694944" y="5769864"/>
            <a:ext cx="274320" cy="274320"/>
          </a:xfrm>
          <a:prstGeom prst="ellipse">
            <a:avLst/>
          </a:prstGeom>
          <a:solidFill>
            <a:srgbClr val="141B2E"/>
          </a:solidFill>
          <a:ln/>
        </p:spPr>
      </p:sp>
      <p:sp>
        <p:nvSpPr>
          <p:cNvPr id="26" name="Text 24"/>
          <p:cNvSpPr/>
          <p:nvPr/>
        </p:nvSpPr>
        <p:spPr>
          <a:xfrm>
            <a:off x="694944" y="5769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078992" y="5577840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“If your advisory firm is mid-way through integrating a billion-dollar acquisition, where does your account sit on its priority list?”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6400800" y="9326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They’ll say → you say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6400800" y="1325880"/>
            <a:ext cx="5239512" cy="603504"/>
          </a:xfrm>
          <a:prstGeom prst="roundRect">
            <a:avLst>
              <a:gd name="adj" fmla="val 10606"/>
            </a:avLst>
          </a:prstGeom>
          <a:solidFill>
            <a:srgbClr val="FBEAEA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0" y="1362456"/>
            <a:ext cx="4892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invented job evaluation — Hay is the global standard.”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400800" y="2002536"/>
            <a:ext cx="5239512" cy="877824"/>
          </a:xfrm>
          <a:prstGeom prst="roundRect">
            <a:avLst>
              <a:gd name="adj" fmla="val 7292"/>
            </a:avLst>
          </a:prstGeom>
          <a:solidFill>
            <a:srgbClr val="E4F5F1"/>
          </a:solidFill>
          <a:ln/>
        </p:spPr>
      </p:sp>
      <p:sp>
        <p:nvSpPr>
          <p:cNvPr id="32" name="Text 30"/>
          <p:cNvSpPr/>
          <p:nvPr/>
        </p:nvSpPr>
        <p:spPr>
          <a:xfrm>
            <a:off x="6583680" y="2039112"/>
            <a:ext cx="4892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— in 1951. License-gated, evaluator-dependent, with published bias critiques. “Standard” means installed base, not modern architecture.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400800" y="3008376"/>
            <a:ext cx="5239512" cy="603504"/>
          </a:xfrm>
          <a:prstGeom prst="roundRect">
            <a:avLst>
              <a:gd name="adj" fmla="val 10606"/>
            </a:avLst>
          </a:prstGeom>
          <a:solidFill>
            <a:srgbClr val="FBEAEA"/>
          </a:solidFill>
          <a:ln/>
        </p:spPr>
      </p:sp>
      <p:sp>
        <p:nvSpPr>
          <p:cNvPr id="34" name="Text 32"/>
          <p:cNvSpPr/>
          <p:nvPr/>
        </p:nvSpPr>
        <p:spPr>
          <a:xfrm>
            <a:off x="6583680" y="3044952"/>
            <a:ext cx="4892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only integrated talent firm — one throat to choke.”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400800" y="3685032"/>
            <a:ext cx="5239512" cy="877824"/>
          </a:xfrm>
          <a:prstGeom prst="roundRect">
            <a:avLst>
              <a:gd name="adj" fmla="val 7292"/>
            </a:avLst>
          </a:prstGeom>
          <a:solidFill>
            <a:srgbClr val="E4F5F1"/>
          </a:solidFill>
          <a:ln/>
        </p:spPr>
      </p:sp>
      <p:sp>
        <p:nvSpPr>
          <p:cNvPr id="36" name="Text 34"/>
          <p:cNvSpPr/>
          <p:nvPr/>
        </p:nvSpPr>
        <p:spPr>
          <a:xfrm>
            <a:off x="6583680" y="3721608"/>
            <a:ext cx="4892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is ~12.5% of revenue and shrank in Q4; the listening runs on Qualtrics/Forsta; analytics on Tableau. The integration is consultants — and consultants leave.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400800" y="4690872"/>
            <a:ext cx="5239512" cy="603504"/>
          </a:xfrm>
          <a:prstGeom prst="roundRect">
            <a:avLst>
              <a:gd name="adj" fmla="val 10606"/>
            </a:avLst>
          </a:prstGeom>
          <a:solidFill>
            <a:srgbClr val="FBEAEA"/>
          </a:solidFill>
          <a:ln/>
        </p:spPr>
      </p:sp>
      <p:sp>
        <p:nvSpPr>
          <p:cNvPr id="38" name="Text 36"/>
          <p:cNvSpPr/>
          <p:nvPr/>
        </p:nvSpPr>
        <p:spPr>
          <a:xfrm>
            <a:off x="6583680" y="4727448"/>
            <a:ext cx="4892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consortium is four small vendors pretending to be one.”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400800" y="5367528"/>
            <a:ext cx="5239512" cy="877824"/>
          </a:xfrm>
          <a:prstGeom prst="roundRect">
            <a:avLst>
              <a:gd name="adj" fmla="val 7292"/>
            </a:avLst>
          </a:prstGeom>
          <a:solidFill>
            <a:srgbClr val="E4F5F1"/>
          </a:solidFill>
          <a:ln/>
        </p:spPr>
      </p:sp>
      <p:sp>
        <p:nvSpPr>
          <p:cNvPr id="40" name="Text 38"/>
          <p:cNvSpPr/>
          <p:nvPr/>
        </p:nvSpPr>
        <p:spPr>
          <a:xfrm>
            <a:off x="6583680" y="5404104"/>
            <a:ext cx="4892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it: KF is one brand presenting acquisitions as one product. Four specialists, one spine, one-layer entry — no $1M engagement required.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57200" y="65105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Mabry.Ai Signal Intelligence · run 2026-08-07 · cached/indexed sources — verify verbatim quotes before client use · INTERNAL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8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77640" cy="6858000"/>
          </a:xfrm>
          <a:prstGeom prst="rect">
            <a:avLst/>
          </a:prstGeom>
          <a:solidFill>
            <a:srgbClr val="141B2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457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B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BATTLECARD · THREAT #2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11480" y="7772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Phenom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1691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phenom.com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20574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B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— BrainsFirst leads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11480" y="26060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9D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 API inside their shell — own the measurement and the defensible decision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1480" y="3337560"/>
            <a:ext cx="3246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~$169M raised total (NOT $500M+); $1.3B valuation stale from 2021</a:t>
            </a:r>
            <a:endParaRPr lang="en-US" sz="100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acquisitions in 4 months of 2026: Included AI, Be Applied, Plum</a:t>
            </a:r>
            <a:endParaRPr lang="en-US" sz="100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X+ Agents GA Apr 2025; voice screening Nov 2025</a:t>
            </a:r>
            <a:endParaRPr lang="en-US" sz="100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Gartner VISIONARY (not Leader), TA Suites 2025 — CRM-emphasis strength</a:t>
            </a:r>
            <a:endParaRPr lang="en-US" sz="100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$100K contract minimums; ~500-employee practical floor</a:t>
            </a:r>
            <a:endParaRPr lang="en-US" sz="100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visible credit-union, gov, or K-12 logos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343400" y="41148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two-minute read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343400" y="960120"/>
            <a:ext cx="75438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TA-experience platform that bought assessment science late — the fastest mover into the Fit layer (#2 threat)</a:t>
            </a:r>
            <a:endParaRPr lang="en-US" sz="115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“Full-spectrum assessment stack” = Plum + Be Applied stapled 10 weeks apart; no combined technical manual, norming, or validity study exists</a:t>
            </a:r>
            <a:endParaRPr lang="en-US" sz="115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NYC LL144 + EU AI Act put the bias-audit burden on the EMPLOYER — no independent audit of the merged flow is published</a:t>
            </a:r>
            <a:endParaRPr lang="en-US" sz="115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Plum is Big Five matching — not motivation, drives, or development-grade depth</a:t>
            </a:r>
            <a:endParaRPr lang="en-US" sz="115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ATS-companion posture proves buyers accept layered stacks — use their own architecture as permission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43400" y="4160520"/>
            <a:ext cx="3703320" cy="2148840"/>
          </a:xfrm>
          <a:prstGeom prst="roundRect">
            <a:avLst>
              <a:gd name="adj" fmla="val 3830"/>
            </a:avLst>
          </a:prstGeom>
          <a:solidFill>
            <a:srgbClr val="FBEAE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43159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THEY WIN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0" y="4645152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5A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TA-suite consolidation RFPs at 10K+ SAP/Workday estates</a:t>
            </a:r>
            <a:endParaRPr lang="en-US" sz="98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5A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High-volume hourly hiring UX (SSM Health-style: speed-to-schedule, chatbot/voice throughput)</a:t>
            </a:r>
            <a:endParaRPr lang="en-US" sz="98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5A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 branding + career site + CRM in one contract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8211312" y="4160520"/>
            <a:ext cx="3703320" cy="2148840"/>
          </a:xfrm>
          <a:prstGeom prst="roundRect">
            <a:avLst>
              <a:gd name="adj" fmla="val 3830"/>
            </a:avLst>
          </a:prstGeom>
          <a:solidFill>
            <a:srgbClr val="E4F5F1"/>
          </a:solidFill>
          <a:ln/>
        </p:spPr>
      </p:sp>
      <p:sp>
        <p:nvSpPr>
          <p:cNvPr id="15" name="Text 13"/>
          <p:cNvSpPr/>
          <p:nvPr/>
        </p:nvSpPr>
        <p:spPr>
          <a:xfrm>
            <a:off x="8439912" y="43159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FB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BEAT THEM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439912" y="4645152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BrainsFirst as the validated decision layer via API inside their shell</a:t>
            </a:r>
            <a:endParaRPr lang="en-US" sz="98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wedge: offer the combined-stack validity/audit file they can’t produce</a:t>
            </a:r>
            <a:endParaRPr lang="en-US" sz="98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“Hire with BrainsFirst, develop with TMA” — one validated continuum past the offer letter</a:t>
            </a:r>
            <a:endParaRPr lang="en-US" sz="98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Mid-market + CU/gov/K-12: uncontested below their $100K floor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4343400" y="651052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Mabry.Ai Signal Intelligence · run 2026-08-07 · cached/indexed sources — verify verbatim quotes before client use · INTERNAL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8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Phenom — positioning &amp; narrative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87782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criteria they install, the criteria they avoid, and the lines they hand us.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4892040"/>
          </a:xfrm>
          <a:prstGeom prst="roundRect">
            <a:avLst>
              <a:gd name="adj" fmla="val 1869"/>
            </a:avLst>
          </a:prstGeom>
          <a:solidFill>
            <a:srgbClr val="F2F5FB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00200"/>
            <a:ext cx="1046988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One-liner: “Applied AI for HR” / Intelligent Talent Experience — “Engines that harmonize data, Ontologies that guide decisions, X AI that hyper-personalizes, Agents that act.” An ATS COMPANION on SAP SuccessFactors/Workday/Oracle; SAP Endorsed App.</a:t>
            </a:r>
            <a:endParaRPr lang="en-US" sz="1150" dirty="0"/>
          </a:p>
          <a:p>
            <a:pPr marL="101600" indent="-1016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2026 assessment pitch (quote verbatim, then dismantle): Be Applied + Plum “form a full-spectrum assessment stack that validates cognitive, behavioral, and situational capabilities” — “verify what AI can’t fake: human behavior at work.”</a:t>
            </a:r>
            <a:endParaRPr lang="en-US" sz="1150" dirty="0"/>
          </a:p>
          <a:p>
            <a:pPr marL="101600" indent="-1016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acquisitions actually brought: Plum = Big Five Discovery Survey + Role Model matching (genuine I/O pedigree, but top-of-funnel matching, not motivation/competency architecture); Be Applied = UK Behavioural Insights Team spinout (strong DE-BIASING PROCESS science, lighter instrument pedigree); EDGE = bench staffing, not assessment.</a:t>
            </a:r>
            <a:endParaRPr lang="en-US" sz="1150" dirty="0"/>
          </a:p>
          <a:p>
            <a:pPr marL="101600" indent="-1016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state — the soft spot: Plum closed ~14 weeks before this run; all public material is announcement-tier (“will enable”). No unified engine, no combined manual, no cross-instrument norming shown publicly. Analysts describe positioning potential, not shipped integration.</a:t>
            </a:r>
            <a:endParaRPr lang="en-US" sz="1150" dirty="0"/>
          </a:p>
          <a:p>
            <a:pPr marL="101600" indent="-1016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own data against them: Phenom research admits 83% of orgs have LOW HR AI/automation maturity — most of the installed base isn’t running agents at depth.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Mabry.Ai Signal Intelligence · run 2026-08-07 · cached/indexed sources — verify verbatim quotes before client use · INTERNAL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8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Phenom — feature matrix vs. the stack</a:t>
            </a:r>
            <a:endParaRPr lang="en-US" sz="2500" dirty="0"/>
          </a:p>
        </p:txBody>
      </p:sp>
      <p:graphicFrame>
        <p:nvGraphicFramePr>
          <p:cNvPr id="5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11091672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4663440"/>
                <a:gridCol w="409651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Phenom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TMA Performance stack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Career site / CRM / chatbot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— their fortress; Gartner CC #1 in Extended CRM Emphasis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745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Nobody — coexist; never contest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Agentic AI screening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X+ Agents GA (SSM Health: 23 hospitals, 40K employees); voice agent live Nov 2025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745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— the question is what science grounds the decisions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Cognitive assessment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 Applied (SJT/work samples, de-biasing process) — 6 months into integration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745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NeurOlympics: one validated instrument, 4 games ~45 min, 1,500+ datapoints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Behavioral / personality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Plum Discovery Survey (Big Five + problem solving + social intelligence)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745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TMA Person layer: motivation-first Want x Can, 80 competencies / 320 behaviors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Combined-stack validity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published — separate pre-acquisition manuals, different constructs, different scales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745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Per-instrument validity docs on demand — THE wedge: ask for the combined technical manual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Bias-audit readiness (LL144 / EU AI Act)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published independent audit of the merged agent+assessment flow; burden falls on the EMPLOYER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745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with audit-ready documentation in NYC/EU-exposed accounts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Engagement / 360 / Role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— “experience” means candidate UX; no architecture or pay product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745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DecisionWise + STYR — three of four layers open even inside a Phenom account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Mid-market fit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$100K minimums, ~500-employee floor, “expert-level engineering setup” complaints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745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 native at 500–20K; CU/gov/K-12 case-study library is empty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5105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Mabry.Ai Signal Intelligence · run 2026-08-07 · cached/indexed sources — verify verbatim quotes before client use · INTERNAL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8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Phenom — exploitable gaps (full ranked list)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87782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first, then the move. Confidence tags in the battlecard.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5486400" cy="1572768"/>
          </a:xfrm>
          <a:prstGeom prst="roundRect">
            <a:avLst>
              <a:gd name="adj" fmla="val 5233"/>
            </a:avLst>
          </a:prstGeom>
          <a:solidFill>
            <a:srgbClr val="F2F5FB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444752"/>
            <a:ext cx="310896" cy="310896"/>
          </a:xfrm>
          <a:prstGeom prst="ellipse">
            <a:avLst/>
          </a:prstGeom>
          <a:solidFill>
            <a:srgbClr val="2FB7A4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444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33856" y="1408176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Stapled science — no combined validation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68096" y="1828800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assessment platforms bought 10 weeks apart; separate pre-acquisition manuals, different constructs, different scales; analysts describe potential, not integration.</a:t>
            </a:r>
            <a:endParaRPr lang="en-US" sz="860" dirty="0"/>
          </a:p>
        </p:txBody>
      </p:sp>
      <p:sp>
        <p:nvSpPr>
          <p:cNvPr id="9" name="Text 7"/>
          <p:cNvSpPr/>
          <p:nvPr/>
        </p:nvSpPr>
        <p:spPr>
          <a:xfrm>
            <a:off x="768096" y="2414016"/>
            <a:ext cx="5074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i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“Ask for the combined technical manual.” Validated measurement doesn’t emerge from a 10-week sprint.</a:t>
            </a:r>
            <a:endParaRPr lang="en-US" sz="860" dirty="0"/>
          </a:p>
        </p:txBody>
      </p:sp>
      <p:sp>
        <p:nvSpPr>
          <p:cNvPr id="10" name="Shape 8"/>
          <p:cNvSpPr/>
          <p:nvPr/>
        </p:nvSpPr>
        <p:spPr>
          <a:xfrm>
            <a:off x="6263640" y="1298448"/>
            <a:ext cx="5486400" cy="1572768"/>
          </a:xfrm>
          <a:prstGeom prst="roundRect">
            <a:avLst>
              <a:gd name="adj" fmla="val 5233"/>
            </a:avLst>
          </a:prstGeom>
          <a:solidFill>
            <a:srgbClr val="F2F5FB"/>
          </a:solidFill>
          <a:ln/>
        </p:spPr>
      </p:sp>
      <p:sp>
        <p:nvSpPr>
          <p:cNvPr id="11" name="Shape 9"/>
          <p:cNvSpPr/>
          <p:nvPr/>
        </p:nvSpPr>
        <p:spPr>
          <a:xfrm>
            <a:off x="6428232" y="1444752"/>
            <a:ext cx="310896" cy="310896"/>
          </a:xfrm>
          <a:prstGeom prst="ellipse">
            <a:avLst/>
          </a:prstGeom>
          <a:solidFill>
            <a:srgbClr val="2FB7A4"/>
          </a:solidFill>
          <a:ln/>
        </p:spPr>
      </p:sp>
      <p:sp>
        <p:nvSpPr>
          <p:cNvPr id="12" name="Text 10"/>
          <p:cNvSpPr/>
          <p:nvPr/>
        </p:nvSpPr>
        <p:spPr>
          <a:xfrm>
            <a:off x="6428232" y="1444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48856" y="1408176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exposure (LL144 / EU AI Act)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83096" y="1828800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published independent bias audit of agent + Plum + Be Applied as one automated decision tool; the employer carries the burden.</a:t>
            </a:r>
            <a:endParaRPr lang="en-US" sz="860" dirty="0"/>
          </a:p>
        </p:txBody>
      </p:sp>
      <p:sp>
        <p:nvSpPr>
          <p:cNvPr id="15" name="Text 13"/>
          <p:cNvSpPr/>
          <p:nvPr/>
        </p:nvSpPr>
        <p:spPr>
          <a:xfrm>
            <a:off x="6483096" y="2414016"/>
            <a:ext cx="5074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i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“Which independent auditor certified the combined flow — and where is it posted?” Lead in NYC/EU-exposed accounts.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548640" y="2999232"/>
            <a:ext cx="5486400" cy="1572768"/>
          </a:xfrm>
          <a:prstGeom prst="roundRect">
            <a:avLst>
              <a:gd name="adj" fmla="val 5233"/>
            </a:avLst>
          </a:prstGeom>
          <a:solidFill>
            <a:srgbClr val="F2F5FB"/>
          </a:solidFill>
          <a:ln/>
        </p:spPr>
      </p:sp>
      <p:sp>
        <p:nvSpPr>
          <p:cNvPr id="17" name="Shape 15"/>
          <p:cNvSpPr/>
          <p:nvPr/>
        </p:nvSpPr>
        <p:spPr>
          <a:xfrm>
            <a:off x="713232" y="3145536"/>
            <a:ext cx="310896" cy="310896"/>
          </a:xfrm>
          <a:prstGeom prst="ellipse">
            <a:avLst/>
          </a:prstGeom>
          <a:solidFill>
            <a:srgbClr val="2FB7A4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33856" y="310896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Person-layer shallowness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68096" y="3529584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Plum = Big Five + problem solving + social intelligence, tuned for top-of-funnel matching — no motivation, no competency architecture.</a:t>
            </a:r>
            <a:endParaRPr lang="en-US" sz="860" dirty="0"/>
          </a:p>
        </p:txBody>
      </p:sp>
      <p:sp>
        <p:nvSpPr>
          <p:cNvPr id="21" name="Text 19"/>
          <p:cNvSpPr/>
          <p:nvPr/>
        </p:nvSpPr>
        <p:spPr>
          <a:xfrm>
            <a:off x="768096" y="4114800"/>
            <a:ext cx="5074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i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Phenom’s insight expires at the offer letter; sell the candidate-to-year-five continuum.</a:t>
            </a:r>
            <a:endParaRPr lang="en-US" sz="860" dirty="0"/>
          </a:p>
        </p:txBody>
      </p:sp>
      <p:sp>
        <p:nvSpPr>
          <p:cNvPr id="22" name="Shape 20"/>
          <p:cNvSpPr/>
          <p:nvPr/>
        </p:nvSpPr>
        <p:spPr>
          <a:xfrm>
            <a:off x="6263640" y="2999232"/>
            <a:ext cx="5486400" cy="1572768"/>
          </a:xfrm>
          <a:prstGeom prst="roundRect">
            <a:avLst>
              <a:gd name="adj" fmla="val 5233"/>
            </a:avLst>
          </a:prstGeom>
          <a:solidFill>
            <a:srgbClr val="F2F5FB"/>
          </a:solidFill>
          <a:ln/>
        </p:spPr>
      </p:sp>
      <p:sp>
        <p:nvSpPr>
          <p:cNvPr id="23" name="Shape 21"/>
          <p:cNvSpPr/>
          <p:nvPr/>
        </p:nvSpPr>
        <p:spPr>
          <a:xfrm>
            <a:off x="6428232" y="3145536"/>
            <a:ext cx="310896" cy="310896"/>
          </a:xfrm>
          <a:prstGeom prst="ellipse">
            <a:avLst/>
          </a:prstGeom>
          <a:solidFill>
            <a:srgbClr val="2FB7A4"/>
          </a:solidFill>
          <a:ln/>
        </p:spPr>
      </p:sp>
      <p:sp>
        <p:nvSpPr>
          <p:cNvPr id="24" name="Text 22"/>
          <p:cNvSpPr/>
          <p:nvPr/>
        </p:nvSpPr>
        <p:spPr>
          <a:xfrm>
            <a:off x="642823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48856" y="310896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Mid-market misfit + integration bandwidth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483096" y="3529584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$100K minimums, ~500-emp floor, “expert-level engineering setup” reviews; three simultaneous platform integrations on ~$169M lifetime funding.</a:t>
            </a:r>
            <a:endParaRPr lang="en-US" sz="860" dirty="0"/>
          </a:p>
        </p:txBody>
      </p:sp>
      <p:sp>
        <p:nvSpPr>
          <p:cNvPr id="27" name="Text 25"/>
          <p:cNvSpPr/>
          <p:nvPr/>
        </p:nvSpPr>
        <p:spPr>
          <a:xfrm>
            <a:off x="6483096" y="4114800"/>
            <a:ext cx="5074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i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“Which of the three 2026 acquisitions gets engineering priority — and where does your rollout sit?”</a:t>
            </a:r>
            <a:endParaRPr lang="en-US" sz="860" dirty="0"/>
          </a:p>
        </p:txBody>
      </p:sp>
      <p:sp>
        <p:nvSpPr>
          <p:cNvPr id="28" name="Shape 26"/>
          <p:cNvSpPr/>
          <p:nvPr/>
        </p:nvSpPr>
        <p:spPr>
          <a:xfrm>
            <a:off x="548640" y="4700016"/>
            <a:ext cx="5486400" cy="1572768"/>
          </a:xfrm>
          <a:prstGeom prst="roundRect">
            <a:avLst>
              <a:gd name="adj" fmla="val 5233"/>
            </a:avLst>
          </a:prstGeom>
          <a:solidFill>
            <a:srgbClr val="F2F5FB"/>
          </a:solidFill>
          <a:ln/>
        </p:spPr>
      </p:sp>
      <p:sp>
        <p:nvSpPr>
          <p:cNvPr id="29" name="Shape 27"/>
          <p:cNvSpPr/>
          <p:nvPr/>
        </p:nvSpPr>
        <p:spPr>
          <a:xfrm>
            <a:off x="713232" y="4846320"/>
            <a:ext cx="310896" cy="310896"/>
          </a:xfrm>
          <a:prstGeom prst="ellipse">
            <a:avLst/>
          </a:prstGeom>
          <a:solidFill>
            <a:srgbClr val="2FB7A4"/>
          </a:solidFill>
          <a:ln/>
        </p:spPr>
      </p:sp>
      <p:sp>
        <p:nvSpPr>
          <p:cNvPr id="30" name="Text 28"/>
          <p:cNvSpPr/>
          <p:nvPr/>
        </p:nvSpPr>
        <p:spPr>
          <a:xfrm>
            <a:off x="713232" y="4846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33856" y="4809744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Experience or Role layer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68096" y="5230368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engagement/360/listening product; no architecture or pay-equity product; “talent experience” = candidate UX.</a:t>
            </a:r>
            <a:endParaRPr lang="en-US" sz="860" dirty="0"/>
          </a:p>
        </p:txBody>
      </p:sp>
      <p:sp>
        <p:nvSpPr>
          <p:cNvPr id="33" name="Text 31"/>
          <p:cNvSpPr/>
          <p:nvPr/>
        </p:nvSpPr>
        <p:spPr>
          <a:xfrm>
            <a:off x="768096" y="5815584"/>
            <a:ext cx="5074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i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of the four layers are open field even inside a Phenom account.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6263640" y="4700016"/>
            <a:ext cx="5486400" cy="1572768"/>
          </a:xfrm>
          <a:prstGeom prst="roundRect">
            <a:avLst>
              <a:gd name="adj" fmla="val 5233"/>
            </a:avLst>
          </a:prstGeom>
          <a:solidFill>
            <a:srgbClr val="F2F5FB"/>
          </a:solidFill>
          <a:ln/>
        </p:spPr>
      </p:sp>
      <p:sp>
        <p:nvSpPr>
          <p:cNvPr id="35" name="Shape 33"/>
          <p:cNvSpPr/>
          <p:nvPr/>
        </p:nvSpPr>
        <p:spPr>
          <a:xfrm>
            <a:off x="6428232" y="4846320"/>
            <a:ext cx="310896" cy="310896"/>
          </a:xfrm>
          <a:prstGeom prst="ellipse">
            <a:avLst/>
          </a:prstGeom>
          <a:solidFill>
            <a:srgbClr val="2FB7A4"/>
          </a:solidFill>
          <a:ln/>
        </p:spPr>
      </p:sp>
      <p:sp>
        <p:nvSpPr>
          <p:cNvPr id="36" name="Text 34"/>
          <p:cNvSpPr/>
          <p:nvPr/>
        </p:nvSpPr>
        <p:spPr>
          <a:xfrm>
            <a:off x="6428232" y="4846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848856" y="4809744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discipline + integration bandwidth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483096" y="5230368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~$169M lifetime raised while acquiring 5 companies in ~24 months; stale 2021 valuation; layoff themes; three simultaneous platform integrations competing for engineering capacity.</a:t>
            </a:r>
            <a:endParaRPr lang="en-US" sz="860" dirty="0"/>
          </a:p>
        </p:txBody>
      </p:sp>
      <p:sp>
        <p:nvSpPr>
          <p:cNvPr id="39" name="Text 37"/>
          <p:cNvSpPr/>
          <p:nvPr/>
        </p:nvSpPr>
        <p:spPr>
          <a:xfrm>
            <a:off x="6483096" y="5815584"/>
            <a:ext cx="5074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i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Late-procurement question only: “Which of the three 2026 acquisitions gets engineering priority — and what happens to standalone Plum/Be Applied customers?”</a:t>
            </a:r>
            <a:endParaRPr lang="en-US" sz="860" dirty="0"/>
          </a:p>
        </p:txBody>
      </p:sp>
      <p:sp>
        <p:nvSpPr>
          <p:cNvPr id="40" name="Text 38"/>
          <p:cNvSpPr/>
          <p:nvPr/>
        </p:nvSpPr>
        <p:spPr>
          <a:xfrm>
            <a:off x="457200" y="65105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Mabry.Ai Signal Intelligence · run 2026-08-07 · cached/indexed sources — verify verbatim quotes before client use · INTERNAL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8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Phenom — pricing, complaints, ex-employee signals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3611880" cy="5029200"/>
          </a:xfrm>
          <a:prstGeom prst="roundRect">
            <a:avLst>
              <a:gd name="adj" fmla="val 2532"/>
            </a:avLst>
          </a:prstGeom>
          <a:solidFill>
            <a:srgbClr val="F2F5FB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1325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signals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49808" y="1755648"/>
            <a:ext cx="32461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published pricing. Third-party estimates: ~$7–13 PEPM equivalents; $100K minimum annual contracts; base ~$10K/month; module expansion to mid-six figures</a:t>
            </a:r>
            <a:endParaRPr lang="en-US" sz="92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Explicitly a poor fit below ~500 employees per the same analyses</a:t>
            </a:r>
            <a:endParaRPr lang="en-US" sz="92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cost: implementation complexity “beyond what’s advertised” — budget engineering time, not just license</a:t>
            </a:r>
            <a:endParaRPr lang="en-US" sz="92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Posture: post-acquisition revenue pressure + stale valuation = aggressive expansion selling; expect Plum/Be Applied bundled hard into renewals (inference)</a:t>
            </a:r>
            <a:endParaRPr lang="en-US" sz="920" dirty="0"/>
          </a:p>
        </p:txBody>
      </p:sp>
      <p:sp>
        <p:nvSpPr>
          <p:cNvPr id="6" name="Shape 4"/>
          <p:cNvSpPr/>
          <p:nvPr/>
        </p:nvSpPr>
        <p:spPr>
          <a:xfrm>
            <a:off x="4343400" y="1143000"/>
            <a:ext cx="3611880" cy="5029200"/>
          </a:xfrm>
          <a:prstGeom prst="roundRect">
            <a:avLst>
              <a:gd name="adj" fmla="val 2532"/>
            </a:avLst>
          </a:prstGeom>
          <a:solidFill>
            <a:srgbClr val="F2F5FB"/>
          </a:solidFill>
          <a:ln/>
        </p:spPr>
      </p:sp>
      <p:sp>
        <p:nvSpPr>
          <p:cNvPr id="7" name="Text 5"/>
          <p:cNvSpPr/>
          <p:nvPr/>
        </p:nvSpPr>
        <p:spPr>
          <a:xfrm>
            <a:off x="4544568" y="1325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complaints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44568" y="1755648"/>
            <a:ext cx="32461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complexity beyond what’s advertised — features needing “expert-level engineering setup” (Gartner PI theme)</a:t>
            </a:r>
            <a:endParaRPr lang="en-US" sz="92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resolution lag; customers owning escalation</a:t>
            </a:r>
            <a:endParaRPr lang="en-US" sz="92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curve + complex legacy-system integrations (G2 recurring)</a:t>
            </a:r>
            <a:endParaRPr lang="en-US" sz="92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Concede: automation quality, candidate texting, recruiter efficiency — this is a liked product in its lane</a:t>
            </a:r>
            <a:endParaRPr lang="en-US" sz="92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assessment modules are too new to have review history — nobody can yet review the thing they’re selling hardest. That absence is the point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8138160" y="1143000"/>
            <a:ext cx="3611880" cy="5029200"/>
          </a:xfrm>
          <a:prstGeom prst="roundRect">
            <a:avLst>
              <a:gd name="adj" fmla="val 2532"/>
            </a:avLst>
          </a:prstGeom>
          <a:solidFill>
            <a:srgbClr val="F2F5FB"/>
          </a:solidFill>
          <a:ln/>
        </p:spPr>
      </p:sp>
      <p:sp>
        <p:nvSpPr>
          <p:cNvPr id="10" name="Text 8"/>
          <p:cNvSpPr/>
          <p:nvPr/>
        </p:nvSpPr>
        <p:spPr>
          <a:xfrm>
            <a:off x="8339328" y="1325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Ex-employee signals (public only)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339328" y="1755648"/>
            <a:ext cx="32461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Glassdoor/Indeed (~1,160+): repeated layoffs (“If Tesla does a layoff, Phenom will do a layoff”), a reported ~10% cut with IPO-prep speculation, micromanagement/blame themes; positives: learning, colleagues (anonymous, directional)</a:t>
            </a:r>
            <a:endParaRPr lang="en-US" sz="92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threads corroborate the layoff-cadence discussion</a:t>
            </a:r>
            <a:endParaRPr lang="en-US" sz="92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read (inference): an org running lean while digesting three acquisitions has integration-capacity risk — surface as the procurement question, never as culture gossip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457200" y="65105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Mabry.Ai Signal Intelligence · run 2026-08-07 · cached/indexed sources — verify verbatim quotes before client use · INTERNAL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8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Phenom — run-alongside plan &amp; MEDDPICC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440680" cy="5029200"/>
          </a:xfrm>
          <a:prstGeom prst="roundRect">
            <a:avLst>
              <a:gd name="adj" fmla="val 1818"/>
            </a:avLst>
          </a:prstGeom>
          <a:solidFill>
            <a:srgbClr val="E4F5F1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32588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FB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RUN-ALONGSIDE / ENTRY WEDGES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77240" y="1737360"/>
            <a:ext cx="502920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strongest coexistence story in the roster: Phenom is an ATS companion BY DESIGN — they normalized layered stacks; use their own architecture as permission</a:t>
            </a:r>
            <a:endParaRPr lang="en-US" sz="1000" dirty="0"/>
          </a:p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BrainsFirst as the validated decision-science layer via API INSIDE the Phenom experience shell: they own the funnel’s look and flow; the stack owns the measurement and the defensible decision</a:t>
            </a:r>
            <a:endParaRPr lang="en-US" sz="1000" dirty="0"/>
          </a:p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Phenom logo in the account signals TA budget and transformation intent — a buying signal, not a blocker</a:t>
            </a:r>
            <a:endParaRPr lang="en-US" sz="1000" dirty="0"/>
          </a:p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win outright: TA-suite consolidation at 10K+ SAP/Workday estates; high-volume hourly hiring UX; employer-branding-led buying — position as the measurement layer inside, not rip-and-replace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199632" y="1143000"/>
            <a:ext cx="5440680" cy="5029200"/>
          </a:xfrm>
          <a:prstGeom prst="roundRect">
            <a:avLst>
              <a:gd name="adj" fmla="val 1818"/>
            </a:avLst>
          </a:prstGeom>
          <a:solidFill>
            <a:srgbClr val="F2F5FB"/>
          </a:solidFill>
          <a:ln/>
        </p:spPr>
      </p:sp>
      <p:sp>
        <p:nvSpPr>
          <p:cNvPr id="7" name="Text 5"/>
          <p:cNvSpPr/>
          <p:nvPr/>
        </p:nvSpPr>
        <p:spPr>
          <a:xfrm>
            <a:off x="6428232" y="132588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MEDDPICC ANGLES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28232" y="1737360"/>
            <a:ext cx="502920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quality-of-hire + early attrition in high-volume roles (their UX fills funnels; does the hire stay?) · employer’s audit-readiness cost under LL144 · bad hire ≈ 3x salary · TOPdesk 3→18 as the Fit-layer proof anchor</a:t>
            </a:r>
            <a:endParaRPr lang="en-US" sz="92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buyer: CHRO/VP TA owns the Phenom contract; the compliance wedge recruits the GC; quality-of-hire recruits the COO who lives with the hires</a:t>
            </a:r>
            <a:endParaRPr lang="en-US" sz="92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criteria to install: combined-instrument validity documentation · independent bias audit of the FULL decision flow · post-hire insight continuity — three criteria a 14-week-old staple job cannot meet</a:t>
            </a:r>
            <a:endParaRPr lang="en-US" sz="92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process: propose the API-inside-the-shell pilot — one high-turnover job family, BrainsFirst under their experience layer, judged on completion, validity file, and 90-day retention. No displacement decision needed</a:t>
            </a:r>
            <a:endParaRPr lang="en-US" sz="92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Champion: the TA-ops lead who owns funnel metrics; the I/O psychologist who knows what a real technical manual looks like</a:t>
            </a:r>
            <a:endParaRPr lang="en-US" sz="92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Competition: expect speed-and-suite selling with assessments bundled cheap — counter on defensibility and depth, the two things a bundle discount can’t manufacture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Mabry.Ai Signal Intelligence · run 2026-08-07 · cached/indexed sources — verify verbatim quotes before client use · INTERNAL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8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Phenom — landmines &amp; counter-FUD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landmines — never name the competitor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486400" cy="749808"/>
          </a:xfrm>
          <a:prstGeom prst="roundRect">
            <a:avLst>
              <a:gd name="adj" fmla="val 8537"/>
            </a:avLst>
          </a:prstGeom>
          <a:solidFill>
            <a:srgbClr val="F2F5FB"/>
          </a:solidFill>
          <a:ln/>
        </p:spPr>
      </p:sp>
      <p:sp>
        <p:nvSpPr>
          <p:cNvPr id="5" name="Shape 3"/>
          <p:cNvSpPr/>
          <p:nvPr/>
        </p:nvSpPr>
        <p:spPr>
          <a:xfrm>
            <a:off x="694944" y="1563624"/>
            <a:ext cx="274320" cy="274320"/>
          </a:xfrm>
          <a:prstGeom prst="ellipse">
            <a:avLst/>
          </a:prstGeom>
          <a:solidFill>
            <a:srgbClr val="141B2E"/>
          </a:solidFill>
          <a:ln/>
        </p:spPr>
      </p:sp>
      <p:sp>
        <p:nvSpPr>
          <p:cNvPr id="6" name="Text 4"/>
          <p:cNvSpPr/>
          <p:nvPr/>
        </p:nvSpPr>
        <p:spPr>
          <a:xfrm>
            <a:off x="694944" y="15636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078992" y="1371600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“Can the vendor produce a combined technical manual for the merged instruments — dated after the acquisitions?”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548640" y="2167128"/>
            <a:ext cx="5486400" cy="749808"/>
          </a:xfrm>
          <a:prstGeom prst="roundRect">
            <a:avLst>
              <a:gd name="adj" fmla="val 8537"/>
            </a:avLst>
          </a:prstGeom>
          <a:solidFill>
            <a:srgbClr val="F2F5FB"/>
          </a:solidFill>
          <a:ln/>
        </p:spPr>
      </p:sp>
      <p:sp>
        <p:nvSpPr>
          <p:cNvPr id="9" name="Shape 7"/>
          <p:cNvSpPr/>
          <p:nvPr/>
        </p:nvSpPr>
        <p:spPr>
          <a:xfrm>
            <a:off x="694944" y="2404872"/>
            <a:ext cx="274320" cy="274320"/>
          </a:xfrm>
          <a:prstGeom prst="ellipse">
            <a:avLst/>
          </a:prstGeom>
          <a:solidFill>
            <a:srgbClr val="141B2E"/>
          </a:solidFill>
          <a:ln/>
        </p:spPr>
      </p:sp>
      <p:sp>
        <p:nvSpPr>
          <p:cNvPr id="10" name="Text 8"/>
          <p:cNvSpPr/>
          <p:nvPr/>
        </p:nvSpPr>
        <p:spPr>
          <a:xfrm>
            <a:off x="694944" y="2404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78992" y="2212848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“If you hire into NYC, which independent auditor audited the full automated decision flow, and where is it posted?”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548640" y="3008376"/>
            <a:ext cx="5486400" cy="749808"/>
          </a:xfrm>
          <a:prstGeom prst="roundRect">
            <a:avLst>
              <a:gd name="adj" fmla="val 8537"/>
            </a:avLst>
          </a:prstGeom>
          <a:solidFill>
            <a:srgbClr val="F2F5FB"/>
          </a:solidFill>
          <a:ln/>
        </p:spPr>
      </p:sp>
      <p:sp>
        <p:nvSpPr>
          <p:cNvPr id="13" name="Shape 11"/>
          <p:cNvSpPr/>
          <p:nvPr/>
        </p:nvSpPr>
        <p:spPr>
          <a:xfrm>
            <a:off x="694944" y="3246120"/>
            <a:ext cx="274320" cy="274320"/>
          </a:xfrm>
          <a:prstGeom prst="ellipse">
            <a:avLst/>
          </a:prstGeom>
          <a:solidFill>
            <a:srgbClr val="141B2E"/>
          </a:solidFill>
          <a:ln/>
        </p:spPr>
      </p:sp>
      <p:sp>
        <p:nvSpPr>
          <p:cNvPr id="14" name="Text 12"/>
          <p:cNvSpPr/>
          <p:nvPr/>
        </p:nvSpPr>
        <p:spPr>
          <a:xfrm>
            <a:off x="694944" y="3246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078992" y="3054096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strong personality match — what does it tell you about motivation and growth in year two?”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548640" y="3849624"/>
            <a:ext cx="5486400" cy="749808"/>
          </a:xfrm>
          <a:prstGeom prst="roundRect">
            <a:avLst>
              <a:gd name="adj" fmla="val 8537"/>
            </a:avLst>
          </a:prstGeom>
          <a:solidFill>
            <a:srgbClr val="F2F5FB"/>
          </a:solidFill>
          <a:ln/>
        </p:spPr>
      </p:sp>
      <p:sp>
        <p:nvSpPr>
          <p:cNvPr id="17" name="Shape 15"/>
          <p:cNvSpPr/>
          <p:nvPr/>
        </p:nvSpPr>
        <p:spPr>
          <a:xfrm>
            <a:off x="694944" y="4087368"/>
            <a:ext cx="274320" cy="274320"/>
          </a:xfrm>
          <a:prstGeom prst="ellipse">
            <a:avLst/>
          </a:prstGeom>
          <a:solidFill>
            <a:srgbClr val="141B2E"/>
          </a:solidFill>
          <a:ln/>
        </p:spPr>
      </p:sp>
      <p:sp>
        <p:nvSpPr>
          <p:cNvPr id="18" name="Text 16"/>
          <p:cNvSpPr/>
          <p:nvPr/>
        </p:nvSpPr>
        <p:spPr>
          <a:xfrm>
            <a:off x="694944" y="40873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078992" y="3895344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“Which modules were built in-house vs acquired in the last 12 months — and are they on one data model?”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548640" y="4690872"/>
            <a:ext cx="5486400" cy="749808"/>
          </a:xfrm>
          <a:prstGeom prst="roundRect">
            <a:avLst>
              <a:gd name="adj" fmla="val 8537"/>
            </a:avLst>
          </a:prstGeom>
          <a:solidFill>
            <a:srgbClr val="F2F5FB"/>
          </a:solidFill>
          <a:ln/>
        </p:spPr>
      </p:sp>
      <p:sp>
        <p:nvSpPr>
          <p:cNvPr id="21" name="Shape 19"/>
          <p:cNvSpPr/>
          <p:nvPr/>
        </p:nvSpPr>
        <p:spPr>
          <a:xfrm>
            <a:off x="694944" y="4928616"/>
            <a:ext cx="274320" cy="274320"/>
          </a:xfrm>
          <a:prstGeom prst="ellipse">
            <a:avLst/>
          </a:prstGeom>
          <a:solidFill>
            <a:srgbClr val="141B2E"/>
          </a:solidFill>
          <a:ln/>
        </p:spPr>
      </p:sp>
      <p:sp>
        <p:nvSpPr>
          <p:cNvPr id="22" name="Text 20"/>
          <p:cNvSpPr/>
          <p:nvPr/>
        </p:nvSpPr>
        <p:spPr>
          <a:xfrm>
            <a:off x="694944" y="49286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078992" y="4736592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“What’s the minimum annual contract, and what does implementation actually require from your engineering team beyond the demo?”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548640" y="5532120"/>
            <a:ext cx="5486400" cy="749808"/>
          </a:xfrm>
          <a:prstGeom prst="roundRect">
            <a:avLst>
              <a:gd name="adj" fmla="val 8537"/>
            </a:avLst>
          </a:prstGeom>
          <a:solidFill>
            <a:srgbClr val="F2F5FB"/>
          </a:solidFill>
          <a:ln/>
        </p:spPr>
      </p:sp>
      <p:sp>
        <p:nvSpPr>
          <p:cNvPr id="25" name="Shape 23"/>
          <p:cNvSpPr/>
          <p:nvPr/>
        </p:nvSpPr>
        <p:spPr>
          <a:xfrm>
            <a:off x="694944" y="5769864"/>
            <a:ext cx="274320" cy="274320"/>
          </a:xfrm>
          <a:prstGeom prst="ellipse">
            <a:avLst/>
          </a:prstGeom>
          <a:solidFill>
            <a:srgbClr val="141B2E"/>
          </a:solidFill>
          <a:ln/>
        </p:spPr>
      </p:sp>
      <p:sp>
        <p:nvSpPr>
          <p:cNvPr id="26" name="Text 24"/>
          <p:cNvSpPr/>
          <p:nvPr/>
        </p:nvSpPr>
        <p:spPr>
          <a:xfrm>
            <a:off x="694944" y="5769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078992" y="5577840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“Your vendor closed three acquisitions in four months — which integration gets engineering priority, and where does your rollout sit relative to it?”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6400800" y="9326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They’ll say → you say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6400800" y="1325880"/>
            <a:ext cx="5239512" cy="603504"/>
          </a:xfrm>
          <a:prstGeom prst="roundRect">
            <a:avLst>
              <a:gd name="adj" fmla="val 10606"/>
            </a:avLst>
          </a:prstGeom>
          <a:solidFill>
            <a:srgbClr val="FBEAEA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0" y="1362456"/>
            <a:ext cx="4892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“One agentic platform — assessments are now built in.”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400800" y="2002536"/>
            <a:ext cx="5239512" cy="877824"/>
          </a:xfrm>
          <a:prstGeom prst="roundRect">
            <a:avLst>
              <a:gd name="adj" fmla="val 7292"/>
            </a:avLst>
          </a:prstGeom>
          <a:solidFill>
            <a:srgbClr val="E4F5F1"/>
          </a:solidFill>
          <a:ln/>
        </p:spPr>
      </p:sp>
      <p:sp>
        <p:nvSpPr>
          <p:cNvPr id="32" name="Text 30"/>
          <p:cNvSpPr/>
          <p:nvPr/>
        </p:nvSpPr>
        <p:spPr>
          <a:xfrm>
            <a:off x="6583680" y="2039112"/>
            <a:ext cx="4892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“Built in” is 14 weeks old. Ask for the combined manual, cross-instrument norms, and the criterion-validity study for the merged stack.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400800" y="3008376"/>
            <a:ext cx="5239512" cy="603504"/>
          </a:xfrm>
          <a:prstGeom prst="roundRect">
            <a:avLst>
              <a:gd name="adj" fmla="val 10606"/>
            </a:avLst>
          </a:prstGeom>
          <a:solidFill>
            <a:srgbClr val="FBEAEA"/>
          </a:solidFill>
          <a:ln/>
        </p:spPr>
      </p:sp>
      <p:sp>
        <p:nvSpPr>
          <p:cNvPr id="34" name="Text 32"/>
          <p:cNvSpPr/>
          <p:nvPr/>
        </p:nvSpPr>
        <p:spPr>
          <a:xfrm>
            <a:off x="6583680" y="3044952"/>
            <a:ext cx="4892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own the candidate experience end-to-end.”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400800" y="3685032"/>
            <a:ext cx="5239512" cy="877824"/>
          </a:xfrm>
          <a:prstGeom prst="roundRect">
            <a:avLst>
              <a:gd name="adj" fmla="val 7292"/>
            </a:avLst>
          </a:prstGeom>
          <a:solidFill>
            <a:srgbClr val="E4F5F1"/>
          </a:solidFill>
          <a:ln/>
        </p:spPr>
      </p:sp>
      <p:sp>
        <p:nvSpPr>
          <p:cNvPr id="36" name="Text 34"/>
          <p:cNvSpPr/>
          <p:nvPr/>
        </p:nvSpPr>
        <p:spPr>
          <a:xfrm>
            <a:off x="6583680" y="3721608"/>
            <a:ext cx="4892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 — the Fit layer plugs in via API. The question is whose score you can defend before a regulator or a rejected candidate.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400800" y="4690872"/>
            <a:ext cx="5239512" cy="603504"/>
          </a:xfrm>
          <a:prstGeom prst="roundRect">
            <a:avLst>
              <a:gd name="adj" fmla="val 10606"/>
            </a:avLst>
          </a:prstGeom>
          <a:solidFill>
            <a:srgbClr val="FBEAEA"/>
          </a:solidFill>
          <a:ln/>
        </p:spPr>
      </p:sp>
      <p:sp>
        <p:nvSpPr>
          <p:cNvPr id="38" name="Text 36"/>
          <p:cNvSpPr/>
          <p:nvPr/>
        </p:nvSpPr>
        <p:spPr>
          <a:xfrm>
            <a:off x="6583680" y="4727448"/>
            <a:ext cx="4892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“Gartner Visionary, 700+ enterprises.”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400800" y="5367528"/>
            <a:ext cx="5239512" cy="877824"/>
          </a:xfrm>
          <a:prstGeom prst="roundRect">
            <a:avLst>
              <a:gd name="adj" fmla="val 7292"/>
            </a:avLst>
          </a:prstGeom>
          <a:solidFill>
            <a:srgbClr val="E4F5F1"/>
          </a:solidFill>
          <a:ln/>
        </p:spPr>
      </p:sp>
      <p:sp>
        <p:nvSpPr>
          <p:cNvPr id="40" name="Text 38"/>
          <p:cNvSpPr/>
          <p:nvPr/>
        </p:nvSpPr>
        <p:spPr>
          <a:xfrm>
            <a:off x="6583680" y="5404104"/>
            <a:ext cx="4892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Visionary ≠ Leader — and the recognition is for CRM/experience. They’re a CRM company that bought assessments last quarter.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57200" y="65105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Mabry.Ai Signal Intelligence · run 2026-08-07 · cached/indexed sources — verify verbatim quotes before client use · INTERNAL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8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takeaways from the run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48640" y="1124712"/>
            <a:ext cx="457200" cy="457200"/>
          </a:xfrm>
          <a:prstGeom prst="ellipse">
            <a:avLst/>
          </a:prstGeom>
          <a:solidFill>
            <a:srgbClr val="2FB7A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24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34440" y="105156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competes with the stack — everybody competes with one layer of it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234440" y="1380744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Korn Ferry is the only four-layer claim, and its filings undercut it (Digital ~12.5% of revenue, flat; listening rented from Qualtrics/Forsta). The one-layer-lead motion is the shape of the market.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457200" cy="457200"/>
          </a:xfrm>
          <a:prstGeom prst="ellipse">
            <a:avLst/>
          </a:prstGeom>
          <a:solidFill>
            <a:srgbClr val="2FB7A4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2121408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Experience layer is in turmoil — window open through 2028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234440" y="2450592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Qualtrics+PG must kill one of three platforms; Culture Amp is a wounded leader; Perceptyx renamed itself 3× in 18 months. Every Experience incumbency is negotiable at renewal. Sell continuity into chaos.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264408"/>
            <a:ext cx="457200" cy="457200"/>
          </a:xfrm>
          <a:prstGeom prst="ellipse">
            <a:avLst/>
          </a:prstGeom>
          <a:solidFill>
            <a:srgbClr val="2FB7A4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264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34440" y="3191256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Role layer is structurally uncontested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234440" y="3520440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of eight builds job architecture. Syndio’s own blog concedes client architectures fail equal-value. With transparency laws forcing pay explanations, STYR enters through a door nobody else has a product for.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4334256"/>
            <a:ext cx="457200" cy="457200"/>
          </a:xfrm>
          <a:prstGeom prst="ellipse">
            <a:avLst/>
          </a:prstGeom>
          <a:solidFill>
            <a:srgbClr val="2FB7A4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334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34440" y="4261104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Acquired science is the pattern — and the weakness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234440" y="459028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Phenom stapled two assessment firms in 10 weeks; Perceptyx runs 5 bolt-ons; Q+PG is a $6.75B roll-up. Universal counter: ask for the combined technical manual and one data model. Integrated, validated instruments can’t be bought in a sprint.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5404104"/>
            <a:ext cx="457200" cy="457200"/>
          </a:xfrm>
          <a:prstGeom prst="ellipse">
            <a:avLst/>
          </a:prstGeom>
          <a:solidFill>
            <a:srgbClr val="E85D5D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5404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34440" y="5330952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500–5K band is nobody’s home turf but ours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234440" y="5660136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SHL/Phenom price at enterprise minimums; Perceptyx/Q+PG/Syndio/KF are enterprise-shaped; PI is affordable but shallow. Credit unions have no incumbent; gov/K-12 is open field. Precision: SHL HAS a motivation questionnaire; PI is NOT stable (CEO change Mar 2026).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65105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Mabry.Ai Signal Intelligence · run 2026-08-07 · cached/indexed sources — verify verbatim quotes before client use · INTERNAL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8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signals across the roster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87782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figures are signals from procurement data / buyer guides — not verified quotes. See each competitor’s pricing slide.</a:t>
            </a:r>
            <a:endParaRPr lang="en-US" sz="1200" dirty="0"/>
          </a:p>
        </p:txBody>
      </p:sp>
      <p:graphicFrame>
        <p:nvGraphicFramePr>
          <p:cNvPr id="6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651760"/>
                <a:gridCol w="3566160"/>
                <a:gridCol w="295351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 range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Mid-market reality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Culture Amp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PEPY tiers, quote-gated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$16.6K SMB / $75.5K ent avg; 3–7% escalators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one price-accessible Experience rival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Perceptyx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Quote-only + services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Likely six-figure ACV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500–5K motion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Qualtrics + PG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Quote-only; uplift habit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Vendr median ~$30K; $6.9K–140K+; 55% repricing case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Documented mid-size walk-aways on price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Predictive Index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Headcount subscription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~$5K–$40K band; Q4 discounts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Affordable — compete on depth, not price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License + per-candidate + services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Mid-market $25K–50K/yr (second-hand)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Enterprise-shaped; interpretation costs extra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Syndio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subscription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Low–mid six figures multi-year (unverified)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Plus counsel + Mercer fees for structure work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Korn Ferry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Consulting $470–500/hr + quote-only software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42% of backlog &gt;$1M engagements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Structurally absent below enterprise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Phenom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PEPM + modules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$100K minimums; ~$7–13 PEPM signals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 floor at ~500 employees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8064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B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lead with cheap — lead with right-sized + named-practitioner service. ROI anchors: bad hire ≈ 3x salary · senior exit 50–200% of salary · Gallup $8.8T disengagement.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457200" y="65105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Mabry.Ai Signal Intelligence · run 2026-08-07 · cached/indexed sources — verify verbatim quotes before client use · INTERNAL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8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landmines that work against all eight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91672" cy="1508760"/>
          </a:xfrm>
          <a:prstGeom prst="roundRect">
            <a:avLst>
              <a:gd name="adj" fmla="val 6061"/>
            </a:avLst>
          </a:prstGeom>
          <a:solidFill>
            <a:srgbClr val="F2F5FB"/>
          </a:solidFill>
          <a:ln/>
        </p:spPr>
      </p:sp>
      <p:sp>
        <p:nvSpPr>
          <p:cNvPr id="4" name="Shape 2"/>
          <p:cNvSpPr/>
          <p:nvPr/>
        </p:nvSpPr>
        <p:spPr>
          <a:xfrm>
            <a:off x="804672" y="1444752"/>
            <a:ext cx="502920" cy="502920"/>
          </a:xfrm>
          <a:prstGeom prst="ellipse">
            <a:avLst/>
          </a:prstGeom>
          <a:solidFill>
            <a:srgbClr val="141B2E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444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54480" y="1335024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“After the results land, who does the work?”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554480" y="171907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survey closes, the assessment scores, or the audit finishes — who sits with your managers and builds what happens next, and what does that cost extra?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554480" y="2249424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Kills: dashboard-only Experience vendors, SHL’s interpretation dependency, KF’s post-engagement vacuum, Syndio’s remediation treadmill.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11091672" cy="1508760"/>
          </a:xfrm>
          <a:prstGeom prst="roundRect">
            <a:avLst>
              <a:gd name="adj" fmla="val 6061"/>
            </a:avLst>
          </a:prstGeom>
          <a:solidFill>
            <a:srgbClr val="F2F5FB"/>
          </a:solidFill>
          <a:ln/>
        </p:spPr>
      </p:sp>
      <p:sp>
        <p:nvSpPr>
          <p:cNvPr id="10" name="Shape 8"/>
          <p:cNvSpPr/>
          <p:nvPr/>
        </p:nvSpPr>
        <p:spPr>
          <a:xfrm>
            <a:off x="804672" y="3136392"/>
            <a:ext cx="502920" cy="502920"/>
          </a:xfrm>
          <a:prstGeom prst="ellipse">
            <a:avLst/>
          </a:prstGeom>
          <a:solidFill>
            <a:srgbClr val="141B2E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3136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54480" y="3026664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“Which parts arrived by acquisition — and are they on one data model?”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554480" y="341071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modules were built in-house, which were acquired in the last 24 months, and can the vendor show one combined technical manual and data model?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554480" y="3941064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Kills: Phenom, Perceptyx, Qualtrics+PG, KF’s Talent Suite — a pure fact question no rep can spin.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4572000"/>
            <a:ext cx="11091672" cy="1508760"/>
          </a:xfrm>
          <a:prstGeom prst="roundRect">
            <a:avLst>
              <a:gd name="adj" fmla="val 6061"/>
            </a:avLst>
          </a:prstGeom>
          <a:solidFill>
            <a:srgbClr val="F2F5FB"/>
          </a:solidFill>
          <a:ln/>
        </p:spPr>
      </p:sp>
      <p:sp>
        <p:nvSpPr>
          <p:cNvPr id="16" name="Shape 14"/>
          <p:cNvSpPr/>
          <p:nvPr/>
        </p:nvSpPr>
        <p:spPr>
          <a:xfrm>
            <a:off x="804672" y="4828032"/>
            <a:ext cx="502920" cy="502920"/>
          </a:xfrm>
          <a:prstGeom prst="ellipse">
            <a:avLst/>
          </a:prstGeom>
          <a:solidFill>
            <a:srgbClr val="141B2E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" y="4828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54480" y="4718304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“Can you measure whether they’ll still be here in year two?”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554480" y="510235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current tools tell you how someone behaves and how people feel. What tells you whether the person wants this work — and whether they’ll still be growing here in two years?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554480" y="5632704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the Want x Can frame against every behavior-only, sentiment-only, or matching-only rival on the board.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Mabry.Ai Signal Intelligence · run 2026-08-07 · cached/indexed sources — verify verbatim quotes before client use · INTERNAL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8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14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list — next 90 days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5166360" cy="1298448"/>
          </a:xfrm>
          <a:prstGeom prst="roundRect">
            <a:avLst>
              <a:gd name="adj" fmla="val 6338"/>
            </a:avLst>
          </a:prstGeom>
          <a:solidFill>
            <a:srgbClr val="1D2A45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" y="1499616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B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Qualtrics + PG platform rationalization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51560" y="1865376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 Forsta/InMoment sunset terms go public, the renewal-season play sharpens. Monitor KLAS + health-system RFPs in H2 2026.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263640" y="1371600"/>
            <a:ext cx="5166360" cy="1298448"/>
          </a:xfrm>
          <a:prstGeom prst="roundRect">
            <a:avLst>
              <a:gd name="adj" fmla="val 6338"/>
            </a:avLst>
          </a:prstGeom>
          <a:solidFill>
            <a:srgbClr val="1D2A45"/>
          </a:solidFill>
          <a:ln/>
        </p:spPr>
      </p:sp>
      <p:sp>
        <p:nvSpPr>
          <p:cNvPr id="7" name="Text 5"/>
          <p:cNvSpPr/>
          <p:nvPr/>
        </p:nvSpPr>
        <p:spPr>
          <a:xfrm>
            <a:off x="6492240" y="1499616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B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Phenom combined-validity evidence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92240" y="1865376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“no combined technical manual” wedge has a shelf life — re-check quarterly.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22960" y="2852928"/>
            <a:ext cx="5166360" cy="1298448"/>
          </a:xfrm>
          <a:prstGeom prst="roundRect">
            <a:avLst>
              <a:gd name="adj" fmla="val 6338"/>
            </a:avLst>
          </a:prstGeom>
          <a:solidFill>
            <a:srgbClr val="1D2A45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2980944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B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Korn Ferry AMS close (~Oct 2026)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3346704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the integration-window talk track; watch antitrust milestones.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63640" y="2852928"/>
            <a:ext cx="5166360" cy="1298448"/>
          </a:xfrm>
          <a:prstGeom prst="roundRect">
            <a:avLst>
              <a:gd name="adj" fmla="val 6338"/>
            </a:avLst>
          </a:prstGeom>
          <a:solidFill>
            <a:srgbClr val="1D2A45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2980944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B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Index under Neuhauser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3346704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product moves show whether PI pushes into Experience or doubles down on hiring — repackaging/repricing risk either way.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22960" y="4334256"/>
            <a:ext cx="5166360" cy="1298448"/>
          </a:xfrm>
          <a:prstGeom prst="roundRect">
            <a:avLst>
              <a:gd name="adj" fmla="val 6338"/>
            </a:avLst>
          </a:prstGeom>
          <a:solidFill>
            <a:srgbClr val="1D2A45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4462272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B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SHL exit process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51560" y="4828032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8+ year PE hold. Any sale announcement changes renewal-pressure dynamics overnight.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63640" y="4334256"/>
            <a:ext cx="5166360" cy="1298448"/>
          </a:xfrm>
          <a:prstGeom prst="roundRect">
            <a:avLst>
              <a:gd name="adj" fmla="val 6338"/>
            </a:avLst>
          </a:prstGeom>
          <a:solidFill>
            <a:srgbClr val="1D2A45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4462272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B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directive first-reports season (2027)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92240" y="4828032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Pay-transparency demand spike; STYR’s explanation-layer story peaks then.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2960" y="59893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refresh due 2026-11-07 — re-run the engine, re-verify every [cached] claim, refresh this deck.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D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Mabry.Ai Signal Intelligence · run 2026-08-07 · cached/indexed sources — verify verbatim quotes before client use · INTERNAL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9D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63</Slides>
  <Notes>63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6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2026-08-07T20:22:12Z</dcterms:created>
  <dcterms:modified xsi:type="dcterms:W3CDTF">2026-08-07T20:22:12Z</dcterms:modified>
</cp:coreProperties>
</file>